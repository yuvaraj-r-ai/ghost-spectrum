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THE IMPOSSIBLE MOUSE</a:t>
            </a:r>
          </a:p>
          <a:p/>
          <a:p>
            <a:r>
              <a:t>Key Message: Wi-Fi signals can be used to sense hand movement without any camera, wearable, or physical mouse. The project investigates continuous 2D cursor control using commodity Wi-Fi CSI.</a:t>
            </a:r>
          </a:p>
          <a:p/>
          <a:p>
            <a:r>
              <a:t>KINESIS = from Greek κίνησις (kínēsis), meaning movement/motion.</a:t>
            </a:r>
          </a:p>
          <a:p>
            <a:r>
              <a:t>Full name: Kinematic Inference through Non-contact Electromagnetic Sensing</a:t>
            </a:r>
          </a:p>
          <a:p/>
          <a:p>
            <a:r>
              <a:t>Core concept: When a hand moves through a Wi-Fi propagation field, it perturbs multipath reflections. These perturbations appear as measurable changes in Channel State Information (CSI) — amplitude and phase variations across OFDM subcarriers. By processing these CSI changes through signal processing and lightweight estimation, we can infer continuous 2D motion vectors (Δx/Δy) to drive a screen cursor.</a:t>
            </a:r>
          </a:p>
          <a:p/>
          <a:p>
            <a:r>
              <a:t>Hardware: 2 × ESP32/ESP32-S3 + existing Wi-Fi router + laptop. Total additional cost: ~$10-20.</a:t>
            </a:r>
          </a:p>
          <a:p/>
          <a:p>
            <a:r>
              <a:t>This is a RESEARCH PROPOSAL — outcomes are hypotheses to be tested, not claimed results.</a:t>
            </a:r>
          </a:p>
          <a:p/>
          <a:p>
            <a:r>
              <a:t>─── BIBLIOGRAPHY ───</a:t>
            </a:r>
          </a:p>
          <a:p>
            <a:r>
              <a:t>[1] Pu, Q., Gupta, S., Gollakota, S., &amp; Patel, S. (2013). "Whole-Home Gesture Recognition Using Wireless Signals." ACM MobiCom '13. DOI: 10.1145/2500423.2500436</a:t>
            </a:r>
          </a:p>
          <a:p>
            <a:r>
              <a:t>[2] Adib, F., Kabelac, Z., Katabi, D., &amp; Miller, R.C. (2014). "3D Tracking via Body Radio Reflections." USENIX NSDI '14.</a:t>
            </a:r>
          </a:p>
          <a:p>
            <a:r>
              <a:t>[3] Ma, Y., Zhou, G., Wang, S. (2018). "SignFi: Sign Language Recognition Using WiFi." ACM IMWUT.</a:t>
            </a:r>
          </a:p>
          <a:p>
            <a:r>
              <a:t>[4] Zhang, D., Wang, H., Wu, D. (2017). "Toward Centimeter-Scale Human Activity Sensing with Wi-Fi Signals." IEEE Computer.</a:t>
            </a:r>
          </a:p>
          <a:p>
            <a:r>
              <a:t>[5] Yang, J., Chen, X., et al. (2023). "SenseFi: A Library and Benchmark on Deep-Learning-Empowered WiFi Human Sensing." Patterns (Cell Press).</a:t>
            </a:r>
          </a:p>
          <a:p>
            <a:r>
              <a:t>[6] Zheng, Y., Zhang, J., Wang, H., et al. (2021). "Widar3.0: Zero-Effort Cross-Domain Gesture Recognition with Wi-Fi." IEEE TPAMI.</a:t>
            </a:r>
          </a:p>
          <a:p>
            <a:r>
              <a:t>[7] IEEE Std 802.11bf-2025. "Enhancements for Wireless LAN Sensing." Published September 2025.</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FROM WI-FI SIGNAL TO RESEARCH GAP</a:t>
            </a:r>
          </a:p>
          <a:p/>
          <a:p>
            <a:r>
              <a:t>Key Message: Wi-Fi sensing has evolved significantly over a decade. The foundational science is well-established. The research opportunity lies in an underexplored combination of capabilities.</a:t>
            </a:r>
          </a:p>
          <a:p/>
          <a:p>
            <a:r>
              <a:t>RESEARCH EVOLUTION:</a:t>
            </a:r>
          </a:p>
          <a:p>
            <a:r>
              <a:t>2013 — WiSee (Pu et al., MobiCom): First whole-home gesture recognition using wireless Doppler. Used expensive USRP SDR, not commodity Wi-Fi. 94% accuracy on 9 gestures. [1]</a:t>
            </a:r>
          </a:p>
          <a:p>
            <a:r>
              <a:t>2014 — WiTrack (Adib et al., NSDI): 3D body tracking via RF reflections. Custom FMCW radio. 10-13cm accuracy. Proved RF can track motion without cameras. [2]</a:t>
            </a:r>
          </a:p>
          <a:p>
            <a:r>
              <a:t>2017 — Fresnel Zone Model (Zhang et al., IEEE Computer): Established physics-based CSI sensing theory using Fresnel zones. Proved centimeter-scale sensing is theoretically possible with commodity Wi-Fi. [3]</a:t>
            </a:r>
          </a:p>
          <a:p>
            <a:r>
              <a:t>2018 — SignFi (Ma et al., IMWUT): 276-word sign language recognition with WiFi CSI using CNN. 93-98% accuracy. But discrete gestures, not continuous tracking. [4]</a:t>
            </a:r>
          </a:p>
          <a:p>
            <a:r>
              <a:t>2021 — Widar3.0 (Zheng et al., IEEE TPAMI): Solved cross-domain gesture recognition using physics-based Body-coordinate Velocity Profile (BVP). &gt;92% cross-domain accuracy. [5]</a:t>
            </a:r>
          </a:p>
          <a:p>
            <a:r>
              <a:t>2023 — SenseFi (Yang et al., Patterns/Cell Press): Comprehensive benchmark library for WiFi sensing. Evaluated MLP, CNN, RNN, Transformers across multiple datasets. [6]</a:t>
            </a:r>
          </a:p>
          <a:p>
            <a:r>
              <a:t>2025 — IEEE 802.11bf: Official WiFi sensing standard published, legitimizing the field. [7]</a:t>
            </a:r>
          </a:p>
          <a:p/>
          <a:p>
            <a:r>
              <a:t>WHAT'S ALREADY SOLVED:</a:t>
            </a:r>
          </a:p>
          <a:p>
            <a:r>
              <a:t>- Wi-Fi signals are perturbed by human motion ✓</a:t>
            </a:r>
          </a:p>
          <a:p>
            <a:r>
              <a:t>- CSI captures fine-grained channel changes ✓</a:t>
            </a:r>
          </a:p>
          <a:p>
            <a:r>
              <a:t>- Discrete gesture classification at 90%+ accuracy ✓</a:t>
            </a:r>
          </a:p>
          <a:p>
            <a:r>
              <a:t>- Commodity hardware (ESP32) can extract CSI ✓</a:t>
            </a:r>
          </a:p>
          <a:p>
            <a:r>
              <a:t>- Device-free interaction is feasible ✓</a:t>
            </a:r>
          </a:p>
          <a:p/>
          <a:p>
            <a:r>
              <a:t>WHAT REMAINS UNDEREXPLORED (the combination):</a:t>
            </a:r>
          </a:p>
          <a:p>
            <a:r>
              <a:t>- Continuous 2D pointing (not just discrete gesture classes)</a:t>
            </a:r>
          </a:p>
          <a:p>
            <a:r>
              <a:t>- Geometry-aware sensing (how TX/RX placement affects accuracy)</a:t>
            </a:r>
          </a:p>
          <a:p>
            <a:r>
              <a:t>- Low-calibration adaptation (quick transfer to new users/environments)</a:t>
            </a:r>
          </a:p>
          <a:p>
            <a:r>
              <a:t>- HCI-specific evaluation metrics (pointing error, jitter, latency, throughput)</a:t>
            </a:r>
          </a:p>
          <a:p/>
          <a:p>
            <a:r>
              <a:t>CRITICAL NOTE: True, unconstrained continuous 2D cursor control via purely commodity Wi-Fi CSI remains an open research challenge as of 2026. Discrete gesture recognition is mature; continuous coordinate-level tracking at mouse-replacement quality is not.</a:t>
            </a:r>
          </a:p>
          <a:p/>
          <a:p>
            <a:r>
              <a:t>─── BIBLIOGRAPHY ───</a:t>
            </a:r>
          </a:p>
          <a:p>
            <a:r>
              <a:t>[1] Pu, Q., Gupta, S., Gollakota, S., &amp; Patel, S. (2013). "Whole-Home Gesture Recognition Using Wireless Signals." ACM MobiCom '13. DOI: 10.1145/2500423.2500436</a:t>
            </a:r>
          </a:p>
          <a:p>
            <a:r>
              <a:t>[2] Adib, F., Kabelac, Z., Katabi, D., &amp; Miller, R.C. (2014). "3D Tracking via Body Radio Reflections." USENIX NSDI '14.</a:t>
            </a:r>
          </a:p>
          <a:p>
            <a:r>
              <a:t>[3] Zhang, D., Wang, H., Wu, D. (2017). "Toward Centimeter-Scale Human Activity Sensing with Wi-Fi Signals." IEEE Computer, 50(1), pp. 48-57. DOI: 10.1109/MC.2017.7</a:t>
            </a:r>
          </a:p>
          <a:p>
            <a:r>
              <a:t>[4] Ma, Y., Zhou, G., Wang, S. (2018). "SignFi: Sign Language Recognition Using WiFi." ACM IMWUT, 2(1), Article 23. DOI: 10.1145/3191755</a:t>
            </a:r>
          </a:p>
          <a:p>
            <a:r>
              <a:t>[5] Zheng, Y., Zhang, J., Wang, H., et al. (2021). "Widar3.0: Zero-Effort Cross-Domain Gesture Recognition with Wi-Fi." IEEE TPAMI, 44(11), pp. 8671-8688. DOI: 10.1109/TPAMI.2021.3105387</a:t>
            </a:r>
          </a:p>
          <a:p>
            <a:r>
              <a:t>[6] Yang, J., Chen, X., et al. (2023). "SenseFi: A Library and Benchmark on Deep-Learning-Empowered WiFi Human Sensing." Patterns (Cell Press), 4(3). DOI: 10.1016/j.patter.2023.100703</a:t>
            </a:r>
          </a:p>
          <a:p>
            <a:r>
              <a:t>[7] IEEE Std 802.11bf-2025. "IEEE Standard — Enhancements for Wireless LAN Sensing." Published 26 Sept 2025.</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KINESIS: HOW IT WORKS (Technical Centerpiece)</a:t>
            </a:r>
          </a:p>
          <a:p/>
          <a:p>
            <a:r>
              <a:t>SYSTEM ARCHITECTURE:</a:t>
            </a:r>
          </a:p>
          <a:p/>
          <a:p>
            <a:r>
              <a:t>1. EMBEDDED ACQUISITION (ESP32-S3)</a:t>
            </a:r>
          </a:p>
          <a:p>
            <a:r>
              <a:t>   - Two ESP32-S3 microcontrollers are placed spatially around the user</a:t>
            </a:r>
          </a:p>
          <a:p>
            <a:r>
              <a:t>   - Each collects Wi-Fi CSI — amplitude and phase across OFDM subcarriers</a:t>
            </a:r>
          </a:p>
          <a:p>
            <a:r>
              <a:t>   - ESP-IDF provides native CSI callback API (esp_wifi_set_csi_rx_cb)</a:t>
            </a:r>
          </a:p>
          <a:p>
            <a:r>
              <a:t>   - ~52 subcarriers × ~100 packets/sec per link</a:t>
            </a:r>
          </a:p>
          <a:p>
            <a:r>
              <a:t>   - Raw CSI streamed via UART or UDP to processing laptop</a:t>
            </a:r>
          </a:p>
          <a:p/>
          <a:p>
            <a:r>
              <a:t>2. WIRELESS PROPAGATION</a:t>
            </a:r>
          </a:p>
          <a:p>
            <a:r>
              <a:t>   - Wi-Fi signals travel via direct path and reflected paths</a:t>
            </a:r>
          </a:p>
          <a:p>
            <a:r>
              <a:t>   - When a hand moves through the propagation field, it perturbs multipath reflections</a:t>
            </a:r>
          </a:p>
          <a:p>
            <a:r>
              <a:t>   - Different subcarriers experience different perturbations (frequency diversity)</a:t>
            </a:r>
          </a:p>
          <a:p>
            <a:r>
              <a:t>   - CSI captures these changes as a subcarrier × time matrix</a:t>
            </a:r>
          </a:p>
          <a:p/>
          <a:p>
            <a:r>
              <a:t>3. PC-SIDE SIGNAL PROCESSING PIPELINE</a:t>
            </a:r>
          </a:p>
          <a:p>
            <a:r>
              <a:t>   a. CSI Input: Raw amplitude + phase matrix</a:t>
            </a:r>
          </a:p>
          <a:p>
            <a:r>
              <a:t>   b. Denoising: Butterworth low-pass filter, Hampel outlier removal</a:t>
            </a:r>
          </a:p>
          <a:p>
            <a:r>
              <a:t>   c. Temporal Features: Sliding window, first-order differences (Δ-CSI)</a:t>
            </a:r>
          </a:p>
          <a:p>
            <a:r>
              <a:t>   d. Physics-Inspired Features: Fresnel-zone-aware features, CSI ratio, variance profiles</a:t>
            </a:r>
          </a:p>
          <a:p>
            <a:r>
              <a:t>   e. Lightweight Estimator: Simple MLP or ridge regression mapping features → Δx/Δy</a:t>
            </a:r>
          </a:p>
          <a:p>
            <a:r>
              <a:t>   f. Adaptive Calibration: Quick per-session normalization / few-shot adaptation</a:t>
            </a:r>
          </a:p>
          <a:p>
            <a:r>
              <a:t>   g. Output: Continuous motion vector (Δx, Δy) driving screen cursor</a:t>
            </a:r>
          </a:p>
          <a:p/>
          <a:p>
            <a:r>
              <a:t>4. KEY RESEARCH INSIGHT: GEOMETRY MATTERS</a:t>
            </a:r>
          </a:p>
          <a:p>
            <a:r>
              <a:t>   - The placement of transmitter and receiver fundamentally affects what the CSI "sees"</a:t>
            </a:r>
          </a:p>
          <a:p>
            <a:r>
              <a:t>   - Collinear TX/RX: Low spatial diversity, hand motion along the axis is nearly invisible</a:t>
            </a:r>
          </a:p>
          <a:p>
            <a:r>
              <a:t>   - Angled TX/RX: Richer multipath variation, better sensitivity to 2D motion</a:t>
            </a:r>
          </a:p>
          <a:p>
            <a:r>
              <a:t>   - This insight is inspired by RIS research which optimizes RF propagation environments</a:t>
            </a:r>
          </a:p>
          <a:p>
            <a:r>
              <a:t>   - Our smaller research question: Can we optimize sensing geometry without requiring an actual RIS?</a:t>
            </a:r>
          </a:p>
          <a:p>
            <a:r>
              <a:t>   - RIS is clearly FUTURE WORK — we investigate geometry optimization by physical TX/RX placement</a:t>
            </a:r>
          </a:p>
          <a:p/>
          <a:p>
            <a:r>
              <a:t>TOOLS &amp; IMPLEMENTATION:</a:t>
            </a:r>
          </a:p>
          <a:p>
            <a:r>
              <a:t>   - ESP-IDF v5.x with CSI support</a:t>
            </a:r>
          </a:p>
          <a:p>
            <a:r>
              <a:t>   - Espressif esp-csi GitHub repository for reference</a:t>
            </a:r>
          </a:p>
          <a:p>
            <a:r>
              <a:t>   - Python (NumPy, SciPy) for signal processing</a:t>
            </a:r>
          </a:p>
          <a:p>
            <a:r>
              <a:t>   - scikit-learn or PyTorch for lightweight estimator</a:t>
            </a:r>
          </a:p>
          <a:p>
            <a:r>
              <a:t>   - PyAutoGUI or similar for cursor control</a:t>
            </a:r>
          </a:p>
          <a:p/>
          <a:p>
            <a:r>
              <a:t>─── BIBLIOGRAPHY ───</a:t>
            </a:r>
          </a:p>
          <a:p>
            <a:r>
              <a:t>[3] Zhang, D., Wang, H., Wu, D. (2017). "Toward Centimeter-Scale Human Activity Sensing with Wi-Fi Signals." IEEE Computer. — Foundational Fresnel zone model.</a:t>
            </a:r>
          </a:p>
          <a:p>
            <a:r>
              <a:t>[5] Zheng, Y. et al. (2021). "Widar3.0: Zero-Effort Cross-Domain Gesture Recognition." IEEE TPAMI. — Physics-based BVP feature for domain independence.</a:t>
            </a:r>
          </a:p>
          <a:p>
            <a:r>
              <a:t>[6] Yang, J. et al. (2023). "SenseFi: A Library and Benchmark." Patterns. — Benchmark architectures for WiFi sensing.</a:t>
            </a:r>
          </a:p>
          <a:p>
            <a:r>
              <a:t>Jia, S. et al. (2024). "Breaking Coordinate Overfitting: Geometry-Aware WiFi Sensing for Cross-Layout 3D Pose Estimation." arXiv. — Geometry embeddings reduce cross-domain error by 60%.</a:t>
            </a:r>
          </a:p>
          <a:p>
            <a:r>
              <a:t>Liu, J. et al. (2024). "RISAR: RIS-assisted HAR with Commercial Wi-Fi." arXiv. — RIS improves spatial diversity for sensing.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CAN IT ACTUALLY WORK? (Experimental Design)</a:t>
            </a:r>
          </a:p>
          <a:p/>
          <a:p>
            <a:r>
              <a:t>EXPERIMENTAL DESIGN:</a:t>
            </a:r>
          </a:p>
          <a:p>
            <a:r>
              <a:t>The experiment is designed to test four specific, falsifiable hypotheses using controlled variations and standard HCI evaluation metrics.</a:t>
            </a:r>
          </a:p>
          <a:p/>
          <a:p>
            <a:r>
              <a:t>HAND TRAJECTORIES:</a:t>
            </a:r>
          </a:p>
          <a:p>
            <a:r>
              <a:t>- Horizontal sweeps (left-right)</a:t>
            </a:r>
          </a:p>
          <a:p>
            <a:r>
              <a:t>- Vertical sweeps (up-down)</a:t>
            </a:r>
          </a:p>
          <a:p>
            <a:r>
              <a:t>- Diagonal sweeps</a:t>
            </a:r>
          </a:p>
          <a:p>
            <a:r>
              <a:t>- Slow and fast speeds</a:t>
            </a:r>
          </a:p>
          <a:p>
            <a:r>
              <a:t>- Ground truth captured via simultaneous video (for evaluation only, not part of the sensing system)</a:t>
            </a:r>
          </a:p>
          <a:p/>
          <a:p>
            <a:r>
              <a:t>CONTROLLED VARIATIONS:</a:t>
            </a:r>
          </a:p>
          <a:p>
            <a:r>
              <a:t>- USER: At least 3 participants (A, B, C) to test cross-user generalization</a:t>
            </a:r>
          </a:p>
          <a:p>
            <a:r>
              <a:t>- POSITION: 3 different seating/standing positions relative to ESP32 devices</a:t>
            </a:r>
          </a:p>
          <a:p>
            <a:r>
              <a:t>- GEOMETRY: 3 different TX/RX configurations (collinear, 90°, 120° separation)</a:t>
            </a:r>
          </a:p>
          <a:p>
            <a:r>
              <a:t>- ENVIRONMENT: 2 different rooms to test environmental robustness</a:t>
            </a:r>
          </a:p>
          <a:p/>
          <a:p>
            <a:r>
              <a:t>TESTABLE HYPOTHESES:</a:t>
            </a:r>
          </a:p>
          <a:p>
            <a:r>
              <a:t>H₁ (FEASIBILITY): Raw CSI from commodity ESP32 hardware contains sufficient information to estimate continuous 2D motion direction and magnitude. Test by measuring pointing error and comparing to random baseline.</a:t>
            </a:r>
          </a:p>
          <a:p/>
          <a:p>
            <a:r>
              <a:t>H₂ (GEOMETRY): Optimized transmitter-receiver placement (wider angular separation) yields statistically lower pointing error than arbitrary/collinear placement. Test by comparing error distributions across G1, G2, G3 configurations.</a:t>
            </a:r>
          </a:p>
          <a:p/>
          <a:p>
            <a:r>
              <a:t>H₃ (ADAPTATION): Quick per-session calibration (a brief initialization gesture) significantly improves performance when switching users or positions. Test by comparing error with/without calibration across users A, B, C.</a:t>
            </a:r>
          </a:p>
          <a:p/>
          <a:p>
            <a:r>
              <a:t>H₄ (EFFICIENCY): Physics-inspired features (Fresnel-zone-derived, CSI ratio, variance profiles) reduce model complexity without sacrificing accuracy. Test by comparing lightweight estimator with physics features vs. larger deep model with raw CSI.</a:t>
            </a:r>
          </a:p>
          <a:p/>
          <a:p>
            <a:r>
              <a:t>EVALUATION METRICS (HCI-specific):</a:t>
            </a:r>
          </a:p>
          <a:p>
            <a:r>
              <a:t>- Pointing Error: Euclidean distance between estimated cursor position and ground truth (cm or pixels)</a:t>
            </a:r>
          </a:p>
          <a:p>
            <a:r>
              <a:t>- Jitter: Variance of cursor position when hand is stationary (should be minimal)</a:t>
            </a:r>
          </a:p>
          <a:p>
            <a:r>
              <a:t>- Latency: Time from hand movement to cursor response (target: &lt;200ms for usable interaction)</a:t>
            </a:r>
          </a:p>
          <a:p>
            <a:r>
              <a:t>- Throughput: Effective information transfer rate (bits/s), following Fitts' law methodology where applicable</a:t>
            </a:r>
          </a:p>
          <a:p>
            <a:r>
              <a:t>- Calibration Time: Duration of per-session initialization required</a:t>
            </a:r>
          </a:p>
          <a:p>
            <a:r>
              <a:t>- Cross-User Robustness: Performance degradation when model trained on user A is tested on user B</a:t>
            </a:r>
          </a:p>
          <a:p/>
          <a:p>
            <a:r>
              <a:t>4-WEEK TIMELINE:</a:t>
            </a:r>
          </a:p>
          <a:p>
            <a:r>
              <a:t>Week 1: Hardware setup, ESP32 CSI acquisition pipeline, data streaming, initial data collection</a:t>
            </a:r>
          </a:p>
          <a:p>
            <a:r>
              <a:t>Week 2: Dataset creation, signal processing pipeline, feature extraction, ground truth alignment</a:t>
            </a:r>
          </a:p>
          <a:p>
            <a:r>
              <a:t>Week 3: Model training, geometry experiments (G1/G2/G3 comparison), adaptation mechanism</a:t>
            </a:r>
          </a:p>
          <a:p>
            <a:r>
              <a:t>Week 4: Full evaluation, demo system integration, documentation, presentation</a:t>
            </a:r>
          </a:p>
          <a:p/>
          <a:p>
            <a:r>
              <a:t>IMPORTANT: All results are TARGETS and HYPOTHESES to be tested. No results are fabricated or pre-claimed.</a:t>
            </a:r>
          </a:p>
          <a:p/>
          <a:p>
            <a:r>
              <a:t>─── BIBLIOGRAPHY ───</a:t>
            </a:r>
          </a:p>
          <a:p>
            <a:r>
              <a:t>Zhu, G. et al. (2025). "CSI-Bench: A Large-Scale In-the-Wild Dataset for Multi-task WiFi Sensing." NeurIPS 2025. — 461 hours of CSI, 26 environments, 35 users. Demonstrates severity of domain shift.</a:t>
            </a:r>
          </a:p>
          <a:p>
            <a:r>
              <a:t>Jia, S. et al. (2024). "Breaking Coordinate Overfitting: Geometry-Aware WiFi Sensing." arXiv. — Geometry embeddings reduce cross-domain error by &gt;60%.</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THE TARGET DEMONSTRATION</a:t>
            </a:r>
          </a:p>
          <a:p/>
          <a:p>
            <a:r>
              <a:t>THE VISION:</a:t>
            </a:r>
          </a:p>
          <a:p>
            <a:r>
              <a:t>A user sits at a desk with a laptop. Two tiny ESP32 devices are positioned on the desk edges. There is NO camera, NO mouse, NO wearable. The user moves their hand through the air, and the cursor on the screen follows continuously.</a:t>
            </a:r>
          </a:p>
          <a:p/>
          <a:p>
            <a:r>
              <a:t>PROPOSED CONTRIBUTION (one sentence):</a:t>
            </a:r>
          </a:p>
          <a:p>
            <a:r>
              <a:t>"A lightweight, geometry-aware, and low-calibration CSI framework for continuous 2D pointing, investigating how wireless propagation geometry affects practical HCI performance."</a:t>
            </a:r>
          </a:p>
          <a:p/>
          <a:p>
            <a:r>
              <a:t>This is an INVESTIGATION, not a claim of achievement.</a:t>
            </a:r>
          </a:p>
          <a:p/>
          <a:p>
            <a:r>
              <a:t>INTERACTION MODES:</a:t>
            </a:r>
          </a:p>
          <a:p>
            <a:r>
              <a:t>- CORE: Hand movement → Δx/Δy → Cursor tracking (this is the primary research target)</a:t>
            </a:r>
          </a:p>
          <a:p>
            <a:r>
              <a:t>- OPTIONAL EXTENSION: Pinch gesture → Click event</a:t>
            </a:r>
          </a:p>
          <a:p>
            <a:r>
              <a:t>- OPTIONAL EXTENSION: Hold + drag gesture → Drag operation</a:t>
            </a:r>
          </a:p>
          <a:p>
            <a:r>
              <a:t>- OPTIONAL EXTENSION: Swipe gesture → Scroll event</a:t>
            </a:r>
          </a:p>
          <a:p>
            <a:r>
              <a:t>Optional extensions depend on core success and remaining time.</a:t>
            </a:r>
          </a:p>
          <a:p/>
          <a:p>
            <a:r>
              <a:t>HARDWARE FEASIBILITY:</a:t>
            </a:r>
          </a:p>
          <a:p>
            <a:r>
              <a:t>- 2 × ESP32/ESP32-S3: ~$5-10 each (already low-cost commodity hardware)</a:t>
            </a:r>
          </a:p>
          <a:p>
            <a:r>
              <a:t>- Existing Wi-Fi router (already present in any indoor environment)</a:t>
            </a:r>
          </a:p>
          <a:p>
            <a:r>
              <a:t>- Existing laptop (any modern laptop with Python support)</a:t>
            </a:r>
          </a:p>
          <a:p>
            <a:r>
              <a:t>- Total additional investment: approximately $10-20</a:t>
            </a:r>
          </a:p>
          <a:p>
            <a:r>
              <a:t>- No custom RF front-end, no expensive SDR, no specialized equipment</a:t>
            </a:r>
          </a:p>
          <a:p/>
          <a:p>
            <a:r>
              <a:t>RISKS &amp; MITIGATION:</a:t>
            </a:r>
          </a:p>
          <a:p>
            <a:r>
              <a:t>1. NOISY CSI: Wi-Fi CSI is inherently noisy due to environmental multipath.</a:t>
            </a:r>
          </a:p>
          <a:p>
            <a:r>
              <a:t>   → Mitigation: Butterworth filtering, Hampel outlier removal, subcarrier selection, CSI ratio technique</a:t>
            </a:r>
          </a:p>
          <a:p>
            <a:r>
              <a:t>2. UNSTABLE REGRESSION: Continuous coordinate regression may produce erratic predictions.</a:t>
            </a:r>
          </a:p>
          <a:p>
            <a:r>
              <a:t>   → Fallback: Reduce to directional estimation (4-way or 8-way classification) — still valuable as a research finding</a:t>
            </a:r>
          </a:p>
          <a:p>
            <a:r>
              <a:t>3. GENERALIZATION FAILURE: Model may not transfer across users/environments.</a:t>
            </a:r>
          </a:p>
          <a:p>
            <a:r>
              <a:t>   → Mitigation: Per-session calibration with brief initialization gestures + physics-informed features for domain independence</a:t>
            </a:r>
          </a:p>
          <a:p/>
          <a:p>
            <a:r>
              <a:t>FUTURE DIRECTIONS (clearly beyond this project's scope):</a:t>
            </a:r>
          </a:p>
          <a:p>
            <a:r>
              <a:t>- RIS / Programmable RF Environments: Actual reconfigurable intelligent surfaces for dynamic propagation control</a:t>
            </a:r>
          </a:p>
          <a:p>
            <a:r>
              <a:t>- 3D Localization: Extending from 2D pointing to 3D hand tracking</a:t>
            </a:r>
          </a:p>
          <a:p>
            <a:r>
              <a:t>- Multi-User Interaction: Handling multiple simultaneous users</a:t>
            </a:r>
          </a:p>
          <a:p>
            <a:r>
              <a:t>- IEEE 802.11bf: Leveraging the new Wi-Fi sensing standard for standardized CSI access</a:t>
            </a:r>
          </a:p>
          <a:p/>
          <a:p>
            <a:r>
              <a:t>SUCCESS CRITERIA (targets, not claimed results):</a:t>
            </a:r>
          </a:p>
          <a:p>
            <a:r>
              <a:t>- Continuous cursor movement that visibly follows hand direction</a:t>
            </a:r>
          </a:p>
          <a:p>
            <a:r>
              <a:t>- Pointing error within an acceptable range for coarse interaction</a:t>
            </a:r>
          </a:p>
          <a:p>
            <a:r>
              <a:t>- Latency below 200ms for responsive interaction feel</a:t>
            </a:r>
          </a:p>
          <a:p>
            <a:r>
              <a:t>- Measurable improvement through geometry optimization</a:t>
            </a:r>
          </a:p>
          <a:p>
            <a:r>
              <a:t>- Improved cross-user robustness through calibration/adaptation</a:t>
            </a:r>
          </a:p>
          <a:p/>
          <a:p>
            <a:r>
              <a:t>─── COMPLETE BIBLIOGRAPHY ───</a:t>
            </a:r>
          </a:p>
          <a:p/>
          <a:p>
            <a:r>
              <a:t>[1] Pu, Q., Gupta, S., Gollakota, S., &amp; Patel, S. (2013). "Whole-Home Gesture Recognition Using Wireless Signals." Proceedings of ACM MobiCom '13, pp. 27-38. DOI: 10.1145/2500423.2500436</a:t>
            </a:r>
          </a:p>
          <a:p/>
          <a:p>
            <a:r>
              <a:t>[2] Adib, F., Kabelac, Z., Katabi, D., &amp; Miller, R.C. (2014). "3D Tracking via Body Radio Reflections." Proceedings of USENIX NSDI '14, pp. 317-329.</a:t>
            </a:r>
          </a:p>
          <a:p/>
          <a:p>
            <a:r>
              <a:t>[3] Zhang, D., Wang, H., Wu, D. (2017). "Toward Centimeter-Scale Human Activity Sensing with Wi-Fi Signals." IEEE Computer, 50(1), pp. 48-57. DOI: 10.1109/MC.2017.7</a:t>
            </a:r>
          </a:p>
          <a:p/>
          <a:p>
            <a:r>
              <a:t>[4] Ma, Y., Zhou, G., Wang, S., Zhao, H., &amp; Jung, W. (2018). "SignFi: Sign Language Recognition Using WiFi." Proceedings of the ACM on Interactive, Mobile, Wearable and Ubiquitous Technologies (IMWUT), 2(1), Article 23. DOI: 10.1145/3191755</a:t>
            </a:r>
          </a:p>
          <a:p/>
          <a:p>
            <a:r>
              <a:t>[5] Zheng, Y., Zhang, J., Wang, H., et al. (2021). "Widar3.0: Zero-Effort Cross-Domain Gesture Recognition with Wi-Fi." IEEE Transactions on Pattern Analysis and Machine Intelligence (TPAMI), 44(11), pp. 8671-8688. DOI: 10.1109/TPAMI.2021.3105387</a:t>
            </a:r>
          </a:p>
          <a:p/>
          <a:p>
            <a:r>
              <a:t>[6] Yang, J., Chen, X., Wang, D., Zou, H., Lu, C.X., Sun, S., &amp; Xie, L. (2023). "SenseFi: A Library and Benchmark on Deep-Learning-Empowered WiFi Human Sensing." Patterns (Cell Press), 4(3). DOI: 10.1016/j.patter.2023.100703</a:t>
            </a:r>
          </a:p>
          <a:p/>
          <a:p>
            <a:r>
              <a:t>[7] IEEE Std 802.11bf-2025. "IEEE Standard for Information Technology — Enhancements for Wireless LAN Sensing." Published 26 September 2025.</a:t>
            </a:r>
          </a:p>
          <a:p/>
          <a:p>
            <a:r>
              <a:t>[8] Jia, S., et al. (2024). "Breaking Coordinate Overfitting: Geometry-Aware WiFi Sensing for Cross-Layout 3D Pose Estimation (PerceptAlign)." arXiv preprint arXiv:2403.04278.</a:t>
            </a:r>
          </a:p>
          <a:p/>
          <a:p>
            <a:r>
              <a:t>[9] Liu, J., Huang, Y., et al. (2024). "RISAR: RIS-assisted Human Activity Recognition with Commercial Wi-Fi Devices." arXiv preprint arXiv:2402.17387.</a:t>
            </a:r>
          </a:p>
          <a:p/>
          <a:p>
            <a:r>
              <a:t>[10] Zhu, G., et al. (2025). "CSI-Bench: A Large-Scale In-the-Wild Dataset for Multi-task WiFi Sensing." NeurIPS 2025. GitHub: guozhen-jenn-zhu/CSI-Bench-Real-WiFi-Sensing-Benchmark.</a:t>
            </a:r>
          </a:p>
          <a:p/>
          <a:p>
            <a:r>
              <a:t>[11] Chung, W.-Y., Shen, L.-H., et al. (2023). "WiRiS: Transformer for RIS-Assisted Device-Free Sensing for Joint People Counting and Localization using Wi-Fi CSI." IEEE PIMRC 2023. arXiv:2307.01455.</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5029200" cy="1097280"/>
          </a:xfrm>
          <a:prstGeom prst="rect">
            <a:avLst/>
          </a:prstGeom>
          <a:noFill/>
        </p:spPr>
        <p:txBody>
          <a:bodyPr wrap="square">
            <a:spAutoFit/>
          </a:bodyPr>
          <a:lstStyle/>
          <a:p>
            <a:pPr algn="l">
              <a:defRPr sz="6400" b="1" i="0">
                <a:solidFill>
                  <a:srgbClr val="00E5CC"/>
                </a:solidFill>
                <a:latin typeface="Calibri"/>
              </a:defRPr>
            </a:pPr>
            <a:r>
              <a:t>KINESIS</a:t>
            </a:r>
          </a:p>
        </p:txBody>
      </p:sp>
      <p:sp>
        <p:nvSpPr>
          <p:cNvPr id="4" name="TextBox 3"/>
          <p:cNvSpPr txBox="1"/>
          <p:nvPr/>
        </p:nvSpPr>
        <p:spPr>
          <a:xfrm>
            <a:off x="548640" y="1234440"/>
            <a:ext cx="5029200" cy="822960"/>
          </a:xfrm>
          <a:prstGeom prst="rect">
            <a:avLst/>
          </a:prstGeom>
          <a:noFill/>
        </p:spPr>
        <p:txBody>
          <a:bodyPr wrap="square">
            <a:spAutoFit/>
          </a:bodyPr>
          <a:lstStyle/>
          <a:p>
            <a:pPr algn="l">
              <a:defRPr sz="1600" b="0" i="1">
                <a:solidFill>
                  <a:srgbClr val="B0BCCE"/>
                </a:solidFill>
                <a:latin typeface="Calibri"/>
              </a:defRPr>
            </a:pPr>
            <a:r>
              <a:t>Kinematic Inference through</a:t>
            </a:r>
          </a:p>
          <a:p>
            <a:pPr algn="l">
              <a:spcAft>
                <a:spcPts val="800"/>
              </a:spcAft>
              <a:defRPr sz="1600" b="0" i="1">
                <a:solidFill>
                  <a:srgbClr val="B0BCCE"/>
                </a:solidFill>
                <a:latin typeface="Calibri"/>
              </a:defRPr>
            </a:pPr>
            <a:r>
              <a:t>Non-contact Electromagnetic Sensing</a:t>
            </a:r>
          </a:p>
        </p:txBody>
      </p:sp>
      <p:sp>
        <p:nvSpPr>
          <p:cNvPr id="5" name="TextBox 4"/>
          <p:cNvSpPr txBox="1"/>
          <p:nvPr/>
        </p:nvSpPr>
        <p:spPr>
          <a:xfrm>
            <a:off x="548640" y="1920240"/>
            <a:ext cx="4572000" cy="365760"/>
          </a:xfrm>
          <a:prstGeom prst="rect">
            <a:avLst/>
          </a:prstGeom>
          <a:noFill/>
        </p:spPr>
        <p:txBody>
          <a:bodyPr wrap="square">
            <a:spAutoFit/>
          </a:bodyPr>
          <a:lstStyle/>
          <a:p>
            <a:pPr algn="l">
              <a:defRPr sz="1100" b="0" i="1">
                <a:solidFill>
                  <a:srgbClr val="6B7B93"/>
                </a:solidFill>
                <a:latin typeface="Calibri"/>
              </a:defRPr>
            </a:pPr>
            <a:r>
              <a:t>from Greek κίνησις — movement, motion</a:t>
            </a:r>
          </a:p>
        </p:txBody>
      </p:sp>
      <p:pic>
        <p:nvPicPr>
          <p:cNvPr id="6" name="Picture 5" descr="slide1_hero_visual_1787818161933.png"/>
          <p:cNvPicPr>
            <a:picLocks noChangeAspect="1"/>
          </p:cNvPicPr>
          <p:nvPr/>
        </p:nvPicPr>
        <p:blipFill>
          <a:blip r:embed="rId2"/>
          <a:stretch>
            <a:fillRect/>
          </a:stretch>
        </p:blipFill>
        <p:spPr>
          <a:xfrm>
            <a:off x="5303520" y="365760"/>
            <a:ext cx="6583680" cy="4937760"/>
          </a:xfrm>
          <a:prstGeom prst="rect">
            <a:avLst/>
          </a:prstGeom>
        </p:spPr>
      </p:pic>
      <p:sp>
        <p:nvSpPr>
          <p:cNvPr id="7" name="TextBox 6"/>
          <p:cNvSpPr txBox="1"/>
          <p:nvPr/>
        </p:nvSpPr>
        <p:spPr>
          <a:xfrm>
            <a:off x="548640" y="2468880"/>
            <a:ext cx="4754880" cy="1280160"/>
          </a:xfrm>
          <a:prstGeom prst="rect">
            <a:avLst/>
          </a:prstGeom>
          <a:noFill/>
        </p:spPr>
        <p:txBody>
          <a:bodyPr wrap="square">
            <a:spAutoFit/>
          </a:bodyPr>
          <a:lstStyle/>
          <a:p>
            <a:pPr algn="l">
              <a:defRPr sz="2600" b="1" i="0">
                <a:solidFill>
                  <a:srgbClr val="FFFFFF"/>
                </a:solidFill>
                <a:latin typeface="Calibri"/>
              </a:defRPr>
            </a:pPr>
            <a:r>
              <a:t>What if Wi-Fi could see</a:t>
            </a:r>
          </a:p>
          <a:p>
            <a:pPr algn="l">
              <a:spcAft>
                <a:spcPts val="1200"/>
              </a:spcAft>
              <a:defRPr sz="2600" b="1" i="0">
                <a:solidFill>
                  <a:srgbClr val="00E5CC"/>
                </a:solidFill>
                <a:latin typeface="Calibri"/>
              </a:defRPr>
            </a:pPr>
            <a:r>
              <a:t>where your hand is moving?</a:t>
            </a:r>
          </a:p>
        </p:txBody>
      </p:sp>
      <p:sp>
        <p:nvSpPr>
          <p:cNvPr id="8" name="Rounded Rectangle 7"/>
          <p:cNvSpPr/>
          <p:nvPr/>
        </p:nvSpPr>
        <p:spPr>
          <a:xfrm>
            <a:off x="548640" y="3840480"/>
            <a:ext cx="1737360" cy="411480"/>
          </a:xfrm>
          <a:prstGeom prst="roundRect">
            <a:avLst/>
          </a:prstGeom>
          <a:solidFill>
            <a:srgbClr val="151A2A"/>
          </a:solidFill>
          <a:ln w="1270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867912"/>
            <a:ext cx="1554480" cy="365760"/>
          </a:xfrm>
          <a:prstGeom prst="rect">
            <a:avLst/>
          </a:prstGeom>
          <a:noFill/>
        </p:spPr>
        <p:txBody>
          <a:bodyPr wrap="square">
            <a:spAutoFit/>
          </a:bodyPr>
          <a:lstStyle/>
          <a:p>
            <a:pPr algn="ctr">
              <a:defRPr sz="1200" b="1" i="0">
                <a:solidFill>
                  <a:srgbClr val="FF4D6A"/>
                </a:solidFill>
                <a:latin typeface="Calibri"/>
              </a:defRPr>
            </a:pPr>
            <a:r>
              <a:t>✕  NO CAMERA</a:t>
            </a:r>
          </a:p>
        </p:txBody>
      </p:sp>
      <p:sp>
        <p:nvSpPr>
          <p:cNvPr id="10" name="Rounded Rectangle 9"/>
          <p:cNvSpPr/>
          <p:nvPr/>
        </p:nvSpPr>
        <p:spPr>
          <a:xfrm>
            <a:off x="2377440" y="3840480"/>
            <a:ext cx="1737360" cy="411480"/>
          </a:xfrm>
          <a:prstGeom prst="roundRect">
            <a:avLst/>
          </a:prstGeom>
          <a:solidFill>
            <a:srgbClr val="151A2A"/>
          </a:solidFill>
          <a:ln w="1270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0" y="3867912"/>
            <a:ext cx="1554480" cy="365760"/>
          </a:xfrm>
          <a:prstGeom prst="rect">
            <a:avLst/>
          </a:prstGeom>
          <a:noFill/>
        </p:spPr>
        <p:txBody>
          <a:bodyPr wrap="square">
            <a:spAutoFit/>
          </a:bodyPr>
          <a:lstStyle/>
          <a:p>
            <a:pPr algn="ctr">
              <a:defRPr sz="1200" b="1" i="0">
                <a:solidFill>
                  <a:srgbClr val="FF4D6A"/>
                </a:solidFill>
                <a:latin typeface="Calibri"/>
              </a:defRPr>
            </a:pPr>
            <a:r>
              <a:t>✕  NO WEARABLE</a:t>
            </a:r>
          </a:p>
        </p:txBody>
      </p:sp>
      <p:sp>
        <p:nvSpPr>
          <p:cNvPr id="12" name="Rounded Rectangle 11"/>
          <p:cNvSpPr/>
          <p:nvPr/>
        </p:nvSpPr>
        <p:spPr>
          <a:xfrm>
            <a:off x="4480560" y="3840480"/>
            <a:ext cx="1737360" cy="411480"/>
          </a:xfrm>
          <a:prstGeom prst="roundRect">
            <a:avLst/>
          </a:prstGeom>
          <a:solidFill>
            <a:srgbClr val="151A2A"/>
          </a:solidFill>
          <a:ln w="1270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3867912"/>
            <a:ext cx="1554480" cy="365760"/>
          </a:xfrm>
          <a:prstGeom prst="rect">
            <a:avLst/>
          </a:prstGeom>
          <a:noFill/>
        </p:spPr>
        <p:txBody>
          <a:bodyPr wrap="square">
            <a:spAutoFit/>
          </a:bodyPr>
          <a:lstStyle/>
          <a:p>
            <a:pPr algn="ctr">
              <a:defRPr sz="1200" b="1" i="0">
                <a:solidFill>
                  <a:srgbClr val="FF4D6A"/>
                </a:solidFill>
                <a:latin typeface="Calibri"/>
              </a:defRPr>
            </a:pPr>
            <a:r>
              <a:t>✕  NO MOUSE</a:t>
            </a:r>
          </a:p>
        </p:txBody>
      </p:sp>
      <p:sp>
        <p:nvSpPr>
          <p:cNvPr id="14" name="Rounded Rectangle 13"/>
          <p:cNvSpPr/>
          <p:nvPr/>
        </p:nvSpPr>
        <p:spPr>
          <a:xfrm>
            <a:off x="548640" y="4572000"/>
            <a:ext cx="5029200" cy="502920"/>
          </a:xfrm>
          <a:prstGeom prst="roundRect">
            <a:avLst/>
          </a:prstGeom>
          <a:solidFill>
            <a:srgbClr val="0D1B2A"/>
          </a:solidFill>
          <a:ln w="12700">
            <a:solidFill>
              <a:srgbClr val="009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617720"/>
            <a:ext cx="4663440" cy="457200"/>
          </a:xfrm>
          <a:prstGeom prst="rect">
            <a:avLst/>
          </a:prstGeom>
          <a:noFill/>
        </p:spPr>
        <p:txBody>
          <a:bodyPr wrap="square">
            <a:spAutoFit/>
          </a:bodyPr>
          <a:lstStyle/>
          <a:p>
            <a:pPr algn="l">
              <a:defRPr sz="1200" b="1" i="0">
                <a:solidFill>
                  <a:srgbClr val="00E5CC"/>
                </a:solidFill>
                <a:latin typeface="Calibri"/>
              </a:defRPr>
            </a:pPr>
            <a:r>
              <a:t>RESEARCH TARGET  ▸  Continuous 2D pointing from commodity Wi-Fi CSI</a:t>
            </a:r>
          </a:p>
        </p:txBody>
      </p:sp>
      <p:sp>
        <p:nvSpPr>
          <p:cNvPr id="16" name="TextBox 15"/>
          <p:cNvSpPr txBox="1"/>
          <p:nvPr/>
        </p:nvSpPr>
        <p:spPr>
          <a:xfrm>
            <a:off x="548640" y="5257800"/>
            <a:ext cx="5029200" cy="365760"/>
          </a:xfrm>
          <a:prstGeom prst="rect">
            <a:avLst/>
          </a:prstGeom>
          <a:noFill/>
        </p:spPr>
        <p:txBody>
          <a:bodyPr wrap="square">
            <a:spAutoFit/>
          </a:bodyPr>
          <a:lstStyle/>
          <a:p>
            <a:pPr algn="l">
              <a:defRPr sz="1100" b="0" i="0">
                <a:solidFill>
                  <a:srgbClr val="6B7B93"/>
                </a:solidFill>
                <a:latin typeface="Calibri"/>
              </a:defRPr>
            </a:pPr>
            <a:r>
              <a:t>2 × ESP32   •   Existing Wi-Fi Router   •   Laptop</a:t>
            </a:r>
          </a:p>
        </p:txBody>
      </p:sp>
      <p:sp>
        <p:nvSpPr>
          <p:cNvPr id="17" name="TextBox 16"/>
          <p:cNvSpPr txBox="1"/>
          <p:nvPr/>
        </p:nvSpPr>
        <p:spPr>
          <a:xfrm>
            <a:off x="548640" y="5760720"/>
            <a:ext cx="10972800" cy="731520"/>
          </a:xfrm>
          <a:prstGeom prst="rect">
            <a:avLst/>
          </a:prstGeom>
          <a:noFill/>
        </p:spPr>
        <p:txBody>
          <a:bodyPr wrap="square">
            <a:spAutoFit/>
          </a:bodyPr>
          <a:lstStyle/>
          <a:p>
            <a:pPr algn="l">
              <a:spcAft>
                <a:spcPts val="200"/>
              </a:spcAft>
              <a:defRPr sz="2800" b="1" i="0">
                <a:solidFill>
                  <a:srgbClr val="00E5CC"/>
                </a:solidFill>
                <a:latin typeface="Calibri"/>
              </a:defRPr>
            </a:pPr>
            <a:r>
              <a:t>THE AIR BECOMES THE MOUSE.</a:t>
            </a:r>
          </a:p>
          <a:p>
            <a:pPr algn="l">
              <a:defRPr sz="1000" b="0" i="0">
                <a:solidFill>
                  <a:srgbClr val="6B7B93"/>
                </a:solidFill>
                <a:latin typeface="Calibri"/>
              </a:defRPr>
            </a:pPr>
            <a:r>
              <a:t>Research proposal — One-month undergraduate Embedded Systems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6400800" cy="548640"/>
          </a:xfrm>
          <a:prstGeom prst="rect">
            <a:avLst/>
          </a:prstGeom>
          <a:noFill/>
        </p:spPr>
        <p:txBody>
          <a:bodyPr wrap="square">
            <a:spAutoFit/>
          </a:bodyPr>
          <a:lstStyle/>
          <a:p>
            <a:pPr algn="l">
              <a:defRPr sz="2800" b="1" i="0">
                <a:solidFill>
                  <a:srgbClr val="FFFFFF"/>
                </a:solidFill>
                <a:latin typeface="Calibri"/>
              </a:defRPr>
            </a:pPr>
            <a:r>
              <a:t>FROM WI-FI SIGNAL TO RESEARCH GAP</a:t>
            </a:r>
          </a:p>
        </p:txBody>
      </p:sp>
      <p:sp>
        <p:nvSpPr>
          <p:cNvPr id="4" name="TextBox 3"/>
          <p:cNvSpPr txBox="1"/>
          <p:nvPr/>
        </p:nvSpPr>
        <p:spPr>
          <a:xfrm>
            <a:off x="457200" y="640080"/>
            <a:ext cx="7315200" cy="320040"/>
          </a:xfrm>
          <a:prstGeom prst="rect">
            <a:avLst/>
          </a:prstGeom>
          <a:noFill/>
        </p:spPr>
        <p:txBody>
          <a:bodyPr wrap="square">
            <a:spAutoFit/>
          </a:bodyPr>
          <a:lstStyle/>
          <a:p>
            <a:pPr algn="l">
              <a:defRPr sz="1300" b="0" i="1">
                <a:solidFill>
                  <a:srgbClr val="6B7B93"/>
                </a:solidFill>
                <a:latin typeface="Calibri"/>
              </a:defRPr>
            </a:pPr>
            <a:r>
              <a:t>A decade of progress — and the opportunity it reveals</a:t>
            </a:r>
          </a:p>
        </p:txBody>
      </p:sp>
      <p:pic>
        <p:nvPicPr>
          <p:cNvPr id="5" name="Picture 4" descr="slide2_landscape_1787818245643.png"/>
          <p:cNvPicPr>
            <a:picLocks noChangeAspect="1"/>
          </p:cNvPicPr>
          <p:nvPr/>
        </p:nvPicPr>
        <p:blipFill>
          <a:blip r:embed="rId2"/>
          <a:stretch>
            <a:fillRect/>
          </a:stretch>
        </p:blipFill>
        <p:spPr>
          <a:xfrm>
            <a:off x="274320" y="1005840"/>
            <a:ext cx="6858000" cy="3200400"/>
          </a:xfrm>
          <a:prstGeom prst="rect">
            <a:avLst/>
          </a:prstGeom>
        </p:spPr>
      </p:pic>
      <p:sp>
        <p:nvSpPr>
          <p:cNvPr id="6" name="Rounded Rectangle 5"/>
          <p:cNvSpPr/>
          <p:nvPr/>
        </p:nvSpPr>
        <p:spPr>
          <a:xfrm>
            <a:off x="7406640" y="1051560"/>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069848"/>
            <a:ext cx="365760" cy="182880"/>
          </a:xfrm>
          <a:prstGeom prst="rect">
            <a:avLst/>
          </a:prstGeom>
          <a:noFill/>
        </p:spPr>
        <p:txBody>
          <a:bodyPr wrap="square">
            <a:spAutoFit/>
          </a:bodyPr>
          <a:lstStyle/>
          <a:p>
            <a:pPr algn="l">
              <a:defRPr sz="900" b="1" i="0">
                <a:solidFill>
                  <a:srgbClr val="00E5CC"/>
                </a:solidFill>
                <a:latin typeface="Calibri"/>
              </a:defRPr>
            </a:pPr>
            <a:r>
              <a:t>[1]</a:t>
            </a:r>
          </a:p>
        </p:txBody>
      </p:sp>
      <p:sp>
        <p:nvSpPr>
          <p:cNvPr id="8" name="TextBox 7"/>
          <p:cNvSpPr txBox="1"/>
          <p:nvPr/>
        </p:nvSpPr>
        <p:spPr>
          <a:xfrm>
            <a:off x="7863840" y="1051560"/>
            <a:ext cx="3840480" cy="201168"/>
          </a:xfrm>
          <a:prstGeom prst="rect">
            <a:avLst/>
          </a:prstGeom>
          <a:noFill/>
        </p:spPr>
        <p:txBody>
          <a:bodyPr wrap="square">
            <a:spAutoFit/>
          </a:bodyPr>
          <a:lstStyle/>
          <a:p>
            <a:pPr algn="l">
              <a:defRPr sz="900" b="1" i="0">
                <a:solidFill>
                  <a:srgbClr val="FFFFFF"/>
                </a:solidFill>
                <a:latin typeface="Calibri"/>
              </a:defRPr>
            </a:pPr>
            <a:r>
              <a:t>Pu et al., 2013  •  MobiCom</a:t>
            </a:r>
          </a:p>
        </p:txBody>
      </p:sp>
      <p:sp>
        <p:nvSpPr>
          <p:cNvPr id="9" name="TextBox 8"/>
          <p:cNvSpPr txBox="1"/>
          <p:nvPr/>
        </p:nvSpPr>
        <p:spPr>
          <a:xfrm>
            <a:off x="7863840" y="1207008"/>
            <a:ext cx="2560320" cy="164592"/>
          </a:xfrm>
          <a:prstGeom prst="rect">
            <a:avLst/>
          </a:prstGeom>
          <a:noFill/>
        </p:spPr>
        <p:txBody>
          <a:bodyPr wrap="square">
            <a:spAutoFit/>
          </a:bodyPr>
          <a:lstStyle/>
          <a:p>
            <a:pPr algn="l">
              <a:defRPr sz="800" b="0" i="1">
                <a:solidFill>
                  <a:srgbClr val="B0BCCE"/>
                </a:solidFill>
                <a:latin typeface="Calibri"/>
              </a:defRPr>
            </a:pPr>
            <a:r>
              <a:t>Whole-home gesture recognition</a:t>
            </a:r>
          </a:p>
        </p:txBody>
      </p:sp>
      <p:sp>
        <p:nvSpPr>
          <p:cNvPr id="10" name="TextBox 9"/>
          <p:cNvSpPr txBox="1"/>
          <p:nvPr/>
        </p:nvSpPr>
        <p:spPr>
          <a:xfrm>
            <a:off x="10424160" y="1207008"/>
            <a:ext cx="1371600" cy="320040"/>
          </a:xfrm>
          <a:prstGeom prst="rect">
            <a:avLst/>
          </a:prstGeom>
          <a:noFill/>
        </p:spPr>
        <p:txBody>
          <a:bodyPr wrap="square">
            <a:spAutoFit/>
          </a:bodyPr>
          <a:lstStyle/>
          <a:p>
            <a:pPr algn="l">
              <a:defRPr sz="700" b="0" i="0">
                <a:solidFill>
                  <a:srgbClr val="6B7B93"/>
                </a:solidFill>
                <a:latin typeface="Calibri"/>
              </a:defRPr>
            </a:pPr>
            <a:r>
              <a:t>▸ Custom SDR, not commodity Wi-Fi</a:t>
            </a:r>
          </a:p>
        </p:txBody>
      </p:sp>
      <p:sp>
        <p:nvSpPr>
          <p:cNvPr id="11" name="Rounded Rectangle 10"/>
          <p:cNvSpPr/>
          <p:nvPr/>
        </p:nvSpPr>
        <p:spPr>
          <a:xfrm>
            <a:off x="7406640" y="1536192"/>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554480"/>
            <a:ext cx="365760" cy="182880"/>
          </a:xfrm>
          <a:prstGeom prst="rect">
            <a:avLst/>
          </a:prstGeom>
          <a:noFill/>
        </p:spPr>
        <p:txBody>
          <a:bodyPr wrap="square">
            <a:spAutoFit/>
          </a:bodyPr>
          <a:lstStyle/>
          <a:p>
            <a:pPr algn="l">
              <a:defRPr sz="900" b="1" i="0">
                <a:solidFill>
                  <a:srgbClr val="00E5CC"/>
                </a:solidFill>
                <a:latin typeface="Calibri"/>
              </a:defRPr>
            </a:pPr>
            <a:r>
              <a:t>[2]</a:t>
            </a:r>
          </a:p>
        </p:txBody>
      </p:sp>
      <p:sp>
        <p:nvSpPr>
          <p:cNvPr id="13" name="TextBox 12"/>
          <p:cNvSpPr txBox="1"/>
          <p:nvPr/>
        </p:nvSpPr>
        <p:spPr>
          <a:xfrm>
            <a:off x="7863840" y="1536192"/>
            <a:ext cx="3840480" cy="201168"/>
          </a:xfrm>
          <a:prstGeom prst="rect">
            <a:avLst/>
          </a:prstGeom>
          <a:noFill/>
        </p:spPr>
        <p:txBody>
          <a:bodyPr wrap="square">
            <a:spAutoFit/>
          </a:bodyPr>
          <a:lstStyle/>
          <a:p>
            <a:pPr algn="l">
              <a:defRPr sz="900" b="1" i="0">
                <a:solidFill>
                  <a:srgbClr val="FFFFFF"/>
                </a:solidFill>
                <a:latin typeface="Calibri"/>
              </a:defRPr>
            </a:pPr>
            <a:r>
              <a:t>Adib et al., 2014  •  NSDI</a:t>
            </a:r>
          </a:p>
        </p:txBody>
      </p:sp>
      <p:sp>
        <p:nvSpPr>
          <p:cNvPr id="14" name="TextBox 13"/>
          <p:cNvSpPr txBox="1"/>
          <p:nvPr/>
        </p:nvSpPr>
        <p:spPr>
          <a:xfrm>
            <a:off x="7863840" y="1691640"/>
            <a:ext cx="2560320" cy="164592"/>
          </a:xfrm>
          <a:prstGeom prst="rect">
            <a:avLst/>
          </a:prstGeom>
          <a:noFill/>
        </p:spPr>
        <p:txBody>
          <a:bodyPr wrap="square">
            <a:spAutoFit/>
          </a:bodyPr>
          <a:lstStyle/>
          <a:p>
            <a:pPr algn="l">
              <a:defRPr sz="800" b="0" i="1">
                <a:solidFill>
                  <a:srgbClr val="B0BCCE"/>
                </a:solidFill>
                <a:latin typeface="Calibri"/>
              </a:defRPr>
            </a:pPr>
            <a:r>
              <a:t>3D body tracking through walls</a:t>
            </a:r>
          </a:p>
        </p:txBody>
      </p:sp>
      <p:sp>
        <p:nvSpPr>
          <p:cNvPr id="15" name="TextBox 14"/>
          <p:cNvSpPr txBox="1"/>
          <p:nvPr/>
        </p:nvSpPr>
        <p:spPr>
          <a:xfrm>
            <a:off x="10424160" y="1691640"/>
            <a:ext cx="1371600" cy="320040"/>
          </a:xfrm>
          <a:prstGeom prst="rect">
            <a:avLst/>
          </a:prstGeom>
          <a:noFill/>
        </p:spPr>
        <p:txBody>
          <a:bodyPr wrap="square">
            <a:spAutoFit/>
          </a:bodyPr>
          <a:lstStyle/>
          <a:p>
            <a:pPr algn="l">
              <a:defRPr sz="700" b="0" i="0">
                <a:solidFill>
                  <a:srgbClr val="6B7B93"/>
                </a:solidFill>
                <a:latin typeface="Calibri"/>
              </a:defRPr>
            </a:pPr>
            <a:r>
              <a:t>▸ Specialized RF hardware</a:t>
            </a:r>
          </a:p>
        </p:txBody>
      </p:sp>
      <p:sp>
        <p:nvSpPr>
          <p:cNvPr id="16" name="Rounded Rectangle 15"/>
          <p:cNvSpPr/>
          <p:nvPr/>
        </p:nvSpPr>
        <p:spPr>
          <a:xfrm>
            <a:off x="7406640" y="2020824"/>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2039112"/>
            <a:ext cx="365760" cy="182880"/>
          </a:xfrm>
          <a:prstGeom prst="rect">
            <a:avLst/>
          </a:prstGeom>
          <a:noFill/>
        </p:spPr>
        <p:txBody>
          <a:bodyPr wrap="square">
            <a:spAutoFit/>
          </a:bodyPr>
          <a:lstStyle/>
          <a:p>
            <a:pPr algn="l">
              <a:defRPr sz="900" b="1" i="0">
                <a:solidFill>
                  <a:srgbClr val="388BFD"/>
                </a:solidFill>
                <a:latin typeface="Calibri"/>
              </a:defRPr>
            </a:pPr>
            <a:r>
              <a:t>[3]</a:t>
            </a:r>
          </a:p>
        </p:txBody>
      </p:sp>
      <p:sp>
        <p:nvSpPr>
          <p:cNvPr id="18" name="TextBox 17"/>
          <p:cNvSpPr txBox="1"/>
          <p:nvPr/>
        </p:nvSpPr>
        <p:spPr>
          <a:xfrm>
            <a:off x="7863840" y="2020824"/>
            <a:ext cx="3840480" cy="201168"/>
          </a:xfrm>
          <a:prstGeom prst="rect">
            <a:avLst/>
          </a:prstGeom>
          <a:noFill/>
        </p:spPr>
        <p:txBody>
          <a:bodyPr wrap="square">
            <a:spAutoFit/>
          </a:bodyPr>
          <a:lstStyle/>
          <a:p>
            <a:pPr algn="l">
              <a:defRPr sz="900" b="1" i="0">
                <a:solidFill>
                  <a:srgbClr val="FFFFFF"/>
                </a:solidFill>
                <a:latin typeface="Calibri"/>
              </a:defRPr>
            </a:pPr>
            <a:r>
              <a:t>Zhang et al., 2017  •  IEEE Computer</a:t>
            </a:r>
          </a:p>
        </p:txBody>
      </p:sp>
      <p:sp>
        <p:nvSpPr>
          <p:cNvPr id="19" name="TextBox 18"/>
          <p:cNvSpPr txBox="1"/>
          <p:nvPr/>
        </p:nvSpPr>
        <p:spPr>
          <a:xfrm>
            <a:off x="7863840" y="2176272"/>
            <a:ext cx="2560320" cy="164592"/>
          </a:xfrm>
          <a:prstGeom prst="rect">
            <a:avLst/>
          </a:prstGeom>
          <a:noFill/>
        </p:spPr>
        <p:txBody>
          <a:bodyPr wrap="square">
            <a:spAutoFit/>
          </a:bodyPr>
          <a:lstStyle/>
          <a:p>
            <a:pPr algn="l">
              <a:defRPr sz="800" b="0" i="1">
                <a:solidFill>
                  <a:srgbClr val="B0BCCE"/>
                </a:solidFill>
                <a:latin typeface="Calibri"/>
              </a:defRPr>
            </a:pPr>
            <a:r>
              <a:t>Fresnel zone CSI model</a:t>
            </a:r>
          </a:p>
        </p:txBody>
      </p:sp>
      <p:sp>
        <p:nvSpPr>
          <p:cNvPr id="20" name="TextBox 19"/>
          <p:cNvSpPr txBox="1"/>
          <p:nvPr/>
        </p:nvSpPr>
        <p:spPr>
          <a:xfrm>
            <a:off x="10424160" y="2176272"/>
            <a:ext cx="1371600" cy="320040"/>
          </a:xfrm>
          <a:prstGeom prst="rect">
            <a:avLst/>
          </a:prstGeom>
          <a:noFill/>
        </p:spPr>
        <p:txBody>
          <a:bodyPr wrap="square">
            <a:spAutoFit/>
          </a:bodyPr>
          <a:lstStyle/>
          <a:p>
            <a:pPr algn="l">
              <a:defRPr sz="700" b="0" i="0">
                <a:solidFill>
                  <a:srgbClr val="6B7B93"/>
                </a:solidFill>
                <a:latin typeface="Calibri"/>
              </a:defRPr>
            </a:pPr>
            <a:r>
              <a:t>▸ LoS assumption, static geometry</a:t>
            </a:r>
          </a:p>
        </p:txBody>
      </p:sp>
      <p:sp>
        <p:nvSpPr>
          <p:cNvPr id="21" name="Rounded Rectangle 20"/>
          <p:cNvSpPr/>
          <p:nvPr/>
        </p:nvSpPr>
        <p:spPr>
          <a:xfrm>
            <a:off x="7406640" y="2505456"/>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2523744"/>
            <a:ext cx="365760" cy="182880"/>
          </a:xfrm>
          <a:prstGeom prst="rect">
            <a:avLst/>
          </a:prstGeom>
          <a:noFill/>
        </p:spPr>
        <p:txBody>
          <a:bodyPr wrap="square">
            <a:spAutoFit/>
          </a:bodyPr>
          <a:lstStyle/>
          <a:p>
            <a:pPr algn="l">
              <a:defRPr sz="900" b="1" i="0">
                <a:solidFill>
                  <a:srgbClr val="388BFD"/>
                </a:solidFill>
                <a:latin typeface="Calibri"/>
              </a:defRPr>
            </a:pPr>
            <a:r>
              <a:t>[4]</a:t>
            </a:r>
          </a:p>
        </p:txBody>
      </p:sp>
      <p:sp>
        <p:nvSpPr>
          <p:cNvPr id="23" name="TextBox 22"/>
          <p:cNvSpPr txBox="1"/>
          <p:nvPr/>
        </p:nvSpPr>
        <p:spPr>
          <a:xfrm>
            <a:off x="7863840" y="2505456"/>
            <a:ext cx="3840480" cy="201168"/>
          </a:xfrm>
          <a:prstGeom prst="rect">
            <a:avLst/>
          </a:prstGeom>
          <a:noFill/>
        </p:spPr>
        <p:txBody>
          <a:bodyPr wrap="square">
            <a:spAutoFit/>
          </a:bodyPr>
          <a:lstStyle/>
          <a:p>
            <a:pPr algn="l">
              <a:defRPr sz="900" b="1" i="0">
                <a:solidFill>
                  <a:srgbClr val="FFFFFF"/>
                </a:solidFill>
                <a:latin typeface="Calibri"/>
              </a:defRPr>
            </a:pPr>
            <a:r>
              <a:t>Ma et al., 2018  •  IMWUT</a:t>
            </a:r>
          </a:p>
        </p:txBody>
      </p:sp>
      <p:sp>
        <p:nvSpPr>
          <p:cNvPr id="24" name="TextBox 23"/>
          <p:cNvSpPr txBox="1"/>
          <p:nvPr/>
        </p:nvSpPr>
        <p:spPr>
          <a:xfrm>
            <a:off x="7863840" y="2660904"/>
            <a:ext cx="2560320" cy="164592"/>
          </a:xfrm>
          <a:prstGeom prst="rect">
            <a:avLst/>
          </a:prstGeom>
          <a:noFill/>
        </p:spPr>
        <p:txBody>
          <a:bodyPr wrap="square">
            <a:spAutoFit/>
          </a:bodyPr>
          <a:lstStyle/>
          <a:p>
            <a:pPr algn="l">
              <a:defRPr sz="800" b="0" i="1">
                <a:solidFill>
                  <a:srgbClr val="B0BCCE"/>
                </a:solidFill>
                <a:latin typeface="Calibri"/>
              </a:defRPr>
            </a:pPr>
            <a:r>
              <a:t>276-word sign language recognition</a:t>
            </a:r>
          </a:p>
        </p:txBody>
      </p:sp>
      <p:sp>
        <p:nvSpPr>
          <p:cNvPr id="25" name="TextBox 24"/>
          <p:cNvSpPr txBox="1"/>
          <p:nvPr/>
        </p:nvSpPr>
        <p:spPr>
          <a:xfrm>
            <a:off x="10424160" y="2660904"/>
            <a:ext cx="1371600" cy="320040"/>
          </a:xfrm>
          <a:prstGeom prst="rect">
            <a:avLst/>
          </a:prstGeom>
          <a:noFill/>
        </p:spPr>
        <p:txBody>
          <a:bodyPr wrap="square">
            <a:spAutoFit/>
          </a:bodyPr>
          <a:lstStyle/>
          <a:p>
            <a:pPr algn="l">
              <a:defRPr sz="700" b="0" i="0">
                <a:solidFill>
                  <a:srgbClr val="6B7B93"/>
                </a:solidFill>
                <a:latin typeface="Calibri"/>
              </a:defRPr>
            </a:pPr>
            <a:r>
              <a:t>▸ Discrete gestures, cross-user drop</a:t>
            </a:r>
          </a:p>
        </p:txBody>
      </p:sp>
      <p:sp>
        <p:nvSpPr>
          <p:cNvPr id="26" name="Rounded Rectangle 25"/>
          <p:cNvSpPr/>
          <p:nvPr/>
        </p:nvSpPr>
        <p:spPr>
          <a:xfrm>
            <a:off x="7406640" y="2990088"/>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79" y="3008376"/>
            <a:ext cx="365760" cy="182880"/>
          </a:xfrm>
          <a:prstGeom prst="rect">
            <a:avLst/>
          </a:prstGeom>
          <a:noFill/>
        </p:spPr>
        <p:txBody>
          <a:bodyPr wrap="square">
            <a:spAutoFit/>
          </a:bodyPr>
          <a:lstStyle/>
          <a:p>
            <a:pPr algn="l">
              <a:defRPr sz="900" b="1" i="0">
                <a:solidFill>
                  <a:srgbClr val="FFB800"/>
                </a:solidFill>
                <a:latin typeface="Calibri"/>
              </a:defRPr>
            </a:pPr>
            <a:r>
              <a:t>[5]</a:t>
            </a:r>
          </a:p>
        </p:txBody>
      </p:sp>
      <p:sp>
        <p:nvSpPr>
          <p:cNvPr id="28" name="TextBox 27"/>
          <p:cNvSpPr txBox="1"/>
          <p:nvPr/>
        </p:nvSpPr>
        <p:spPr>
          <a:xfrm>
            <a:off x="7863840" y="2990088"/>
            <a:ext cx="3840480" cy="201168"/>
          </a:xfrm>
          <a:prstGeom prst="rect">
            <a:avLst/>
          </a:prstGeom>
          <a:noFill/>
        </p:spPr>
        <p:txBody>
          <a:bodyPr wrap="square">
            <a:spAutoFit/>
          </a:bodyPr>
          <a:lstStyle/>
          <a:p>
            <a:pPr algn="l">
              <a:defRPr sz="900" b="1" i="0">
                <a:solidFill>
                  <a:srgbClr val="FFFFFF"/>
                </a:solidFill>
                <a:latin typeface="Calibri"/>
              </a:defRPr>
            </a:pPr>
            <a:r>
              <a:t>Zheng et al., 2021  •  IEEE TPAMI</a:t>
            </a:r>
          </a:p>
        </p:txBody>
      </p:sp>
      <p:sp>
        <p:nvSpPr>
          <p:cNvPr id="29" name="TextBox 28"/>
          <p:cNvSpPr txBox="1"/>
          <p:nvPr/>
        </p:nvSpPr>
        <p:spPr>
          <a:xfrm>
            <a:off x="7863840" y="3145536"/>
            <a:ext cx="2560320" cy="164592"/>
          </a:xfrm>
          <a:prstGeom prst="rect">
            <a:avLst/>
          </a:prstGeom>
          <a:noFill/>
        </p:spPr>
        <p:txBody>
          <a:bodyPr wrap="square">
            <a:spAutoFit/>
          </a:bodyPr>
          <a:lstStyle/>
          <a:p>
            <a:pPr algn="l">
              <a:defRPr sz="800" b="0" i="1">
                <a:solidFill>
                  <a:srgbClr val="B0BCCE"/>
                </a:solidFill>
                <a:latin typeface="Calibri"/>
              </a:defRPr>
            </a:pPr>
            <a:r>
              <a:t>Cross-domain gesture recognition</a:t>
            </a:r>
          </a:p>
        </p:txBody>
      </p:sp>
      <p:sp>
        <p:nvSpPr>
          <p:cNvPr id="30" name="TextBox 29"/>
          <p:cNvSpPr txBox="1"/>
          <p:nvPr/>
        </p:nvSpPr>
        <p:spPr>
          <a:xfrm>
            <a:off x="10424160" y="3145536"/>
            <a:ext cx="1371600" cy="320040"/>
          </a:xfrm>
          <a:prstGeom prst="rect">
            <a:avLst/>
          </a:prstGeom>
          <a:noFill/>
        </p:spPr>
        <p:txBody>
          <a:bodyPr wrap="square">
            <a:spAutoFit/>
          </a:bodyPr>
          <a:lstStyle/>
          <a:p>
            <a:pPr algn="l">
              <a:defRPr sz="700" b="0" i="0">
                <a:solidFill>
                  <a:srgbClr val="6B7B93"/>
                </a:solidFill>
                <a:latin typeface="Calibri"/>
              </a:defRPr>
            </a:pPr>
            <a:r>
              <a:t>▸ BVP extraction complexity</a:t>
            </a:r>
          </a:p>
        </p:txBody>
      </p:sp>
      <p:sp>
        <p:nvSpPr>
          <p:cNvPr id="31" name="Rounded Rectangle 30"/>
          <p:cNvSpPr/>
          <p:nvPr/>
        </p:nvSpPr>
        <p:spPr>
          <a:xfrm>
            <a:off x="7406640" y="3474720"/>
            <a:ext cx="4480560" cy="438912"/>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79" y="3493008"/>
            <a:ext cx="365760" cy="182880"/>
          </a:xfrm>
          <a:prstGeom prst="rect">
            <a:avLst/>
          </a:prstGeom>
          <a:noFill/>
        </p:spPr>
        <p:txBody>
          <a:bodyPr wrap="square">
            <a:spAutoFit/>
          </a:bodyPr>
          <a:lstStyle/>
          <a:p>
            <a:pPr algn="l">
              <a:defRPr sz="900" b="1" i="0">
                <a:solidFill>
                  <a:srgbClr val="FFB800"/>
                </a:solidFill>
                <a:latin typeface="Calibri"/>
              </a:defRPr>
            </a:pPr>
            <a:r>
              <a:t>[6]</a:t>
            </a:r>
          </a:p>
        </p:txBody>
      </p:sp>
      <p:sp>
        <p:nvSpPr>
          <p:cNvPr id="33" name="TextBox 32"/>
          <p:cNvSpPr txBox="1"/>
          <p:nvPr/>
        </p:nvSpPr>
        <p:spPr>
          <a:xfrm>
            <a:off x="7863840" y="3474720"/>
            <a:ext cx="3840480" cy="201168"/>
          </a:xfrm>
          <a:prstGeom prst="rect">
            <a:avLst/>
          </a:prstGeom>
          <a:noFill/>
        </p:spPr>
        <p:txBody>
          <a:bodyPr wrap="square">
            <a:spAutoFit/>
          </a:bodyPr>
          <a:lstStyle/>
          <a:p>
            <a:pPr algn="l">
              <a:defRPr sz="900" b="1" i="0">
                <a:solidFill>
                  <a:srgbClr val="FFFFFF"/>
                </a:solidFill>
                <a:latin typeface="Calibri"/>
              </a:defRPr>
            </a:pPr>
            <a:r>
              <a:t>Yang et al., 2023  •  Patterns</a:t>
            </a:r>
          </a:p>
        </p:txBody>
      </p:sp>
      <p:sp>
        <p:nvSpPr>
          <p:cNvPr id="34" name="TextBox 33"/>
          <p:cNvSpPr txBox="1"/>
          <p:nvPr/>
        </p:nvSpPr>
        <p:spPr>
          <a:xfrm>
            <a:off x="7863840" y="3630168"/>
            <a:ext cx="2560320" cy="164592"/>
          </a:xfrm>
          <a:prstGeom prst="rect">
            <a:avLst/>
          </a:prstGeom>
          <a:noFill/>
        </p:spPr>
        <p:txBody>
          <a:bodyPr wrap="square">
            <a:spAutoFit/>
          </a:bodyPr>
          <a:lstStyle/>
          <a:p>
            <a:pPr algn="l">
              <a:defRPr sz="800" b="0" i="1">
                <a:solidFill>
                  <a:srgbClr val="B0BCCE"/>
                </a:solidFill>
                <a:latin typeface="Calibri"/>
              </a:defRPr>
            </a:pPr>
            <a:r>
              <a:t>Deep learning WiFi benchmark</a:t>
            </a:r>
          </a:p>
        </p:txBody>
      </p:sp>
      <p:sp>
        <p:nvSpPr>
          <p:cNvPr id="35" name="TextBox 34"/>
          <p:cNvSpPr txBox="1"/>
          <p:nvPr/>
        </p:nvSpPr>
        <p:spPr>
          <a:xfrm>
            <a:off x="10424160" y="3630168"/>
            <a:ext cx="1371600" cy="320040"/>
          </a:xfrm>
          <a:prstGeom prst="rect">
            <a:avLst/>
          </a:prstGeom>
          <a:noFill/>
        </p:spPr>
        <p:txBody>
          <a:bodyPr wrap="square">
            <a:spAutoFit/>
          </a:bodyPr>
          <a:lstStyle/>
          <a:p>
            <a:pPr algn="l">
              <a:defRPr sz="700" b="0" i="0">
                <a:solidFill>
                  <a:srgbClr val="6B7B93"/>
                </a:solidFill>
                <a:latin typeface="Calibri"/>
              </a:defRPr>
            </a:pPr>
            <a:r>
              <a:t>▸ Lab-only datasets, no HCI eval</a:t>
            </a:r>
          </a:p>
        </p:txBody>
      </p:sp>
      <p:sp>
        <p:nvSpPr>
          <p:cNvPr id="36" name="Rounded Rectangle 35"/>
          <p:cNvSpPr/>
          <p:nvPr/>
        </p:nvSpPr>
        <p:spPr>
          <a:xfrm>
            <a:off x="457200" y="4480560"/>
            <a:ext cx="5029200" cy="2011680"/>
          </a:xfrm>
          <a:prstGeom prst="roundRect">
            <a:avLst/>
          </a:prstGeom>
          <a:solidFill>
            <a:srgbClr val="0D121E"/>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526280"/>
            <a:ext cx="2743200" cy="320040"/>
          </a:xfrm>
          <a:prstGeom prst="rect">
            <a:avLst/>
          </a:prstGeom>
          <a:noFill/>
        </p:spPr>
        <p:txBody>
          <a:bodyPr wrap="square">
            <a:spAutoFit/>
          </a:bodyPr>
          <a:lstStyle/>
          <a:p>
            <a:pPr algn="l">
              <a:defRPr sz="1400" b="1" i="0">
                <a:solidFill>
                  <a:srgbClr val="00E576"/>
                </a:solidFill>
                <a:latin typeface="Calibri"/>
              </a:defRPr>
            </a:pPr>
            <a:r>
              <a:t>✓  ALREADY ESTABLISHED</a:t>
            </a:r>
          </a:p>
        </p:txBody>
      </p:sp>
      <p:sp>
        <p:nvSpPr>
          <p:cNvPr id="38" name="TextBox 37"/>
          <p:cNvSpPr txBox="1"/>
          <p:nvPr/>
        </p:nvSpPr>
        <p:spPr>
          <a:xfrm>
            <a:off x="822960" y="4892040"/>
            <a:ext cx="4572000" cy="274320"/>
          </a:xfrm>
          <a:prstGeom prst="rect">
            <a:avLst/>
          </a:prstGeom>
          <a:noFill/>
        </p:spPr>
        <p:txBody>
          <a:bodyPr wrap="square">
            <a:spAutoFit/>
          </a:bodyPr>
          <a:lstStyle/>
          <a:p>
            <a:pPr algn="l">
              <a:defRPr sz="1000" b="0" i="0">
                <a:solidFill>
                  <a:srgbClr val="B0BCCE"/>
                </a:solidFill>
                <a:latin typeface="Calibri"/>
              </a:defRPr>
            </a:pPr>
            <a:r>
              <a:t>  ✓   Wi-Fi signals perturbed by human motion</a:t>
            </a:r>
          </a:p>
        </p:txBody>
      </p:sp>
      <p:sp>
        <p:nvSpPr>
          <p:cNvPr id="39" name="TextBox 38"/>
          <p:cNvSpPr txBox="1"/>
          <p:nvPr/>
        </p:nvSpPr>
        <p:spPr>
          <a:xfrm>
            <a:off x="822960" y="5193792"/>
            <a:ext cx="4572000" cy="274320"/>
          </a:xfrm>
          <a:prstGeom prst="rect">
            <a:avLst/>
          </a:prstGeom>
          <a:noFill/>
        </p:spPr>
        <p:txBody>
          <a:bodyPr wrap="square">
            <a:spAutoFit/>
          </a:bodyPr>
          <a:lstStyle/>
          <a:p>
            <a:pPr algn="l">
              <a:defRPr sz="1000" b="0" i="0">
                <a:solidFill>
                  <a:srgbClr val="B0BCCE"/>
                </a:solidFill>
                <a:latin typeface="Calibri"/>
              </a:defRPr>
            </a:pPr>
            <a:r>
              <a:t>  ✓   CSI captures fine-grained channel changes</a:t>
            </a:r>
          </a:p>
        </p:txBody>
      </p:sp>
      <p:sp>
        <p:nvSpPr>
          <p:cNvPr id="40" name="TextBox 39"/>
          <p:cNvSpPr txBox="1"/>
          <p:nvPr/>
        </p:nvSpPr>
        <p:spPr>
          <a:xfrm>
            <a:off x="822960" y="5495544"/>
            <a:ext cx="4572000" cy="274320"/>
          </a:xfrm>
          <a:prstGeom prst="rect">
            <a:avLst/>
          </a:prstGeom>
          <a:noFill/>
        </p:spPr>
        <p:txBody>
          <a:bodyPr wrap="square">
            <a:spAutoFit/>
          </a:bodyPr>
          <a:lstStyle/>
          <a:p>
            <a:pPr algn="l">
              <a:defRPr sz="1000" b="0" i="0">
                <a:solidFill>
                  <a:srgbClr val="B0BCCE"/>
                </a:solidFill>
                <a:latin typeface="Calibri"/>
              </a:defRPr>
            </a:pPr>
            <a:r>
              <a:t>  ✓   Discrete gesture classification (90%+ accuracy)</a:t>
            </a:r>
          </a:p>
        </p:txBody>
      </p:sp>
      <p:sp>
        <p:nvSpPr>
          <p:cNvPr id="41" name="TextBox 40"/>
          <p:cNvSpPr txBox="1"/>
          <p:nvPr/>
        </p:nvSpPr>
        <p:spPr>
          <a:xfrm>
            <a:off x="822960" y="5797296"/>
            <a:ext cx="4572000" cy="274320"/>
          </a:xfrm>
          <a:prstGeom prst="rect">
            <a:avLst/>
          </a:prstGeom>
          <a:noFill/>
        </p:spPr>
        <p:txBody>
          <a:bodyPr wrap="square">
            <a:spAutoFit/>
          </a:bodyPr>
          <a:lstStyle/>
          <a:p>
            <a:pPr algn="l">
              <a:defRPr sz="1000" b="0" i="0">
                <a:solidFill>
                  <a:srgbClr val="B0BCCE"/>
                </a:solidFill>
                <a:latin typeface="Calibri"/>
              </a:defRPr>
            </a:pPr>
            <a:r>
              <a:t>  ✓   Commodity ESP32 CSI extraction</a:t>
            </a:r>
          </a:p>
        </p:txBody>
      </p:sp>
      <p:sp>
        <p:nvSpPr>
          <p:cNvPr id="42" name="TextBox 41"/>
          <p:cNvSpPr txBox="1"/>
          <p:nvPr/>
        </p:nvSpPr>
        <p:spPr>
          <a:xfrm>
            <a:off x="822960" y="6099048"/>
            <a:ext cx="4572000" cy="274320"/>
          </a:xfrm>
          <a:prstGeom prst="rect">
            <a:avLst/>
          </a:prstGeom>
          <a:noFill/>
        </p:spPr>
        <p:txBody>
          <a:bodyPr wrap="square">
            <a:spAutoFit/>
          </a:bodyPr>
          <a:lstStyle/>
          <a:p>
            <a:pPr algn="l">
              <a:defRPr sz="1000" b="0" i="0">
                <a:solidFill>
                  <a:srgbClr val="B0BCCE"/>
                </a:solidFill>
                <a:latin typeface="Calibri"/>
              </a:defRPr>
            </a:pPr>
            <a:r>
              <a:t>  ✓   Camera-free / device-free interaction concept</a:t>
            </a:r>
          </a:p>
        </p:txBody>
      </p:sp>
      <p:sp>
        <p:nvSpPr>
          <p:cNvPr id="43" name="Rounded Rectangle 42"/>
          <p:cNvSpPr/>
          <p:nvPr/>
        </p:nvSpPr>
        <p:spPr>
          <a:xfrm>
            <a:off x="5943600" y="4480560"/>
            <a:ext cx="5943600" cy="2011680"/>
          </a:xfrm>
          <a:prstGeom prst="roundRect">
            <a:avLst/>
          </a:prstGeom>
          <a:solidFill>
            <a:srgbClr val="0A1A25"/>
          </a:solidFill>
          <a:ln w="12700">
            <a:solidFill>
              <a:srgbClr val="009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26480" y="4526280"/>
            <a:ext cx="3657600" cy="320040"/>
          </a:xfrm>
          <a:prstGeom prst="rect">
            <a:avLst/>
          </a:prstGeom>
          <a:noFill/>
        </p:spPr>
        <p:txBody>
          <a:bodyPr wrap="square">
            <a:spAutoFit/>
          </a:bodyPr>
          <a:lstStyle/>
          <a:p>
            <a:pPr algn="l">
              <a:defRPr sz="1400" b="1" i="0">
                <a:solidFill>
                  <a:srgbClr val="00E5CC"/>
                </a:solidFill>
                <a:latin typeface="Calibri"/>
              </a:defRPr>
            </a:pPr>
            <a:r>
              <a:t>?  UNDEREXPLORED COMBINATION</a:t>
            </a:r>
          </a:p>
        </p:txBody>
      </p:sp>
      <p:sp>
        <p:nvSpPr>
          <p:cNvPr id="45" name="TextBox 44"/>
          <p:cNvSpPr txBox="1"/>
          <p:nvPr/>
        </p:nvSpPr>
        <p:spPr>
          <a:xfrm>
            <a:off x="6309360" y="4892040"/>
            <a:ext cx="2743200" cy="182880"/>
          </a:xfrm>
          <a:prstGeom prst="rect">
            <a:avLst/>
          </a:prstGeom>
          <a:noFill/>
        </p:spPr>
        <p:txBody>
          <a:bodyPr wrap="square">
            <a:spAutoFit/>
          </a:bodyPr>
          <a:lstStyle/>
          <a:p>
            <a:pPr algn="l">
              <a:defRPr sz="1100" b="1" i="0">
                <a:solidFill>
                  <a:srgbClr val="00E5CC"/>
                </a:solidFill>
                <a:latin typeface="Calibri"/>
              </a:defRPr>
            </a:pPr>
            <a:r>
              <a:t>▸  Continuous 2D pointing</a:t>
            </a:r>
          </a:p>
        </p:txBody>
      </p:sp>
      <p:sp>
        <p:nvSpPr>
          <p:cNvPr id="46" name="TextBox 45"/>
          <p:cNvSpPr txBox="1"/>
          <p:nvPr/>
        </p:nvSpPr>
        <p:spPr>
          <a:xfrm>
            <a:off x="8686800" y="4892040"/>
            <a:ext cx="3017520" cy="182880"/>
          </a:xfrm>
          <a:prstGeom prst="rect">
            <a:avLst/>
          </a:prstGeom>
          <a:noFill/>
        </p:spPr>
        <p:txBody>
          <a:bodyPr wrap="square">
            <a:spAutoFit/>
          </a:bodyPr>
          <a:lstStyle/>
          <a:p>
            <a:pPr algn="l">
              <a:defRPr sz="900" b="0" i="1">
                <a:solidFill>
                  <a:srgbClr val="6B7B93"/>
                </a:solidFill>
                <a:latin typeface="Calibri"/>
              </a:defRPr>
            </a:pPr>
            <a:r>
              <a:t>Not discrete gestures — continuous Δx/Δy</a:t>
            </a:r>
          </a:p>
        </p:txBody>
      </p:sp>
      <p:sp>
        <p:nvSpPr>
          <p:cNvPr id="47" name="TextBox 46"/>
          <p:cNvSpPr txBox="1"/>
          <p:nvPr/>
        </p:nvSpPr>
        <p:spPr>
          <a:xfrm>
            <a:off x="6309360" y="5276088"/>
            <a:ext cx="2743200" cy="182880"/>
          </a:xfrm>
          <a:prstGeom prst="rect">
            <a:avLst/>
          </a:prstGeom>
          <a:noFill/>
        </p:spPr>
        <p:txBody>
          <a:bodyPr wrap="square">
            <a:spAutoFit/>
          </a:bodyPr>
          <a:lstStyle/>
          <a:p>
            <a:pPr algn="l">
              <a:defRPr sz="1100" b="1" i="0">
                <a:solidFill>
                  <a:srgbClr val="00E5CC"/>
                </a:solidFill>
                <a:latin typeface="Calibri"/>
              </a:defRPr>
            </a:pPr>
            <a:r>
              <a:t>▸  Geometry-aware sensing</a:t>
            </a:r>
          </a:p>
        </p:txBody>
      </p:sp>
      <p:sp>
        <p:nvSpPr>
          <p:cNvPr id="48" name="TextBox 47"/>
          <p:cNvSpPr txBox="1"/>
          <p:nvPr/>
        </p:nvSpPr>
        <p:spPr>
          <a:xfrm>
            <a:off x="8686800" y="5276088"/>
            <a:ext cx="3017520" cy="182880"/>
          </a:xfrm>
          <a:prstGeom prst="rect">
            <a:avLst/>
          </a:prstGeom>
          <a:noFill/>
        </p:spPr>
        <p:txBody>
          <a:bodyPr wrap="square">
            <a:spAutoFit/>
          </a:bodyPr>
          <a:lstStyle/>
          <a:p>
            <a:pPr algn="l">
              <a:defRPr sz="900" b="0" i="1">
                <a:solidFill>
                  <a:srgbClr val="6B7B93"/>
                </a:solidFill>
                <a:latin typeface="Calibri"/>
              </a:defRPr>
            </a:pPr>
            <a:r>
              <a:t>TX/RX placement affects sensitivity</a:t>
            </a:r>
          </a:p>
        </p:txBody>
      </p:sp>
      <p:sp>
        <p:nvSpPr>
          <p:cNvPr id="49" name="TextBox 48"/>
          <p:cNvSpPr txBox="1"/>
          <p:nvPr/>
        </p:nvSpPr>
        <p:spPr>
          <a:xfrm>
            <a:off x="6309360" y="5660136"/>
            <a:ext cx="2743200" cy="182880"/>
          </a:xfrm>
          <a:prstGeom prst="rect">
            <a:avLst/>
          </a:prstGeom>
          <a:noFill/>
        </p:spPr>
        <p:txBody>
          <a:bodyPr wrap="square">
            <a:spAutoFit/>
          </a:bodyPr>
          <a:lstStyle/>
          <a:p>
            <a:pPr algn="l">
              <a:defRPr sz="1100" b="1" i="0">
                <a:solidFill>
                  <a:srgbClr val="00E5CC"/>
                </a:solidFill>
                <a:latin typeface="Calibri"/>
              </a:defRPr>
            </a:pPr>
            <a:r>
              <a:t>▸  Low-calibration adaptation</a:t>
            </a:r>
          </a:p>
        </p:txBody>
      </p:sp>
      <p:sp>
        <p:nvSpPr>
          <p:cNvPr id="50" name="TextBox 49"/>
          <p:cNvSpPr txBox="1"/>
          <p:nvPr/>
        </p:nvSpPr>
        <p:spPr>
          <a:xfrm>
            <a:off x="8686800" y="5660136"/>
            <a:ext cx="3017520" cy="182880"/>
          </a:xfrm>
          <a:prstGeom prst="rect">
            <a:avLst/>
          </a:prstGeom>
          <a:noFill/>
        </p:spPr>
        <p:txBody>
          <a:bodyPr wrap="square">
            <a:spAutoFit/>
          </a:bodyPr>
          <a:lstStyle/>
          <a:p>
            <a:pPr algn="l">
              <a:defRPr sz="900" b="0" i="1">
                <a:solidFill>
                  <a:srgbClr val="6B7B93"/>
                </a:solidFill>
                <a:latin typeface="Calibri"/>
              </a:defRPr>
            </a:pPr>
            <a:r>
              <a:t>Quick transfer across users/rooms</a:t>
            </a:r>
          </a:p>
        </p:txBody>
      </p:sp>
      <p:sp>
        <p:nvSpPr>
          <p:cNvPr id="51" name="TextBox 50"/>
          <p:cNvSpPr txBox="1"/>
          <p:nvPr/>
        </p:nvSpPr>
        <p:spPr>
          <a:xfrm>
            <a:off x="6309360" y="6044184"/>
            <a:ext cx="2743200" cy="182880"/>
          </a:xfrm>
          <a:prstGeom prst="rect">
            <a:avLst/>
          </a:prstGeom>
          <a:noFill/>
        </p:spPr>
        <p:txBody>
          <a:bodyPr wrap="square">
            <a:spAutoFit/>
          </a:bodyPr>
          <a:lstStyle/>
          <a:p>
            <a:pPr algn="l">
              <a:defRPr sz="1100" b="1" i="0">
                <a:solidFill>
                  <a:srgbClr val="00E5CC"/>
                </a:solidFill>
                <a:latin typeface="Calibri"/>
              </a:defRPr>
            </a:pPr>
            <a:r>
              <a:t>▸  HCI-oriented evaluation</a:t>
            </a:r>
          </a:p>
        </p:txBody>
      </p:sp>
      <p:sp>
        <p:nvSpPr>
          <p:cNvPr id="52" name="TextBox 51"/>
          <p:cNvSpPr txBox="1"/>
          <p:nvPr/>
        </p:nvSpPr>
        <p:spPr>
          <a:xfrm>
            <a:off x="8686800" y="6044184"/>
            <a:ext cx="3017520" cy="182880"/>
          </a:xfrm>
          <a:prstGeom prst="rect">
            <a:avLst/>
          </a:prstGeom>
          <a:noFill/>
        </p:spPr>
        <p:txBody>
          <a:bodyPr wrap="square">
            <a:spAutoFit/>
          </a:bodyPr>
          <a:lstStyle/>
          <a:p>
            <a:pPr algn="l">
              <a:defRPr sz="900" b="0" i="1">
                <a:solidFill>
                  <a:srgbClr val="6B7B93"/>
                </a:solidFill>
                <a:latin typeface="Calibri"/>
              </a:defRPr>
            </a:pPr>
            <a:r>
              <a:t>Pointing error, jitter, latency, throughput</a:t>
            </a:r>
          </a:p>
        </p:txBody>
      </p:sp>
      <p:sp>
        <p:nvSpPr>
          <p:cNvPr id="53" name="TextBox 52"/>
          <p:cNvSpPr txBox="1"/>
          <p:nvPr/>
        </p:nvSpPr>
        <p:spPr>
          <a:xfrm>
            <a:off x="6126480" y="6400800"/>
            <a:ext cx="5669280" cy="365760"/>
          </a:xfrm>
          <a:prstGeom prst="rect">
            <a:avLst/>
          </a:prstGeom>
          <a:noFill/>
        </p:spPr>
        <p:txBody>
          <a:bodyPr wrap="square">
            <a:spAutoFit/>
          </a:bodyPr>
          <a:lstStyle/>
          <a:p>
            <a:pPr algn="l">
              <a:defRPr sz="900" b="1" i="1">
                <a:solidFill>
                  <a:srgbClr val="FFB800"/>
                </a:solidFill>
                <a:latin typeface="Calibri"/>
              </a:defRPr>
            </a:pPr>
            <a:r>
              <a:t>RQ: Can commodity Wi-Fi CSI be transformed into a low-calibration continuous 2D pointing interface?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defRPr sz="2600" b="1" i="0">
                <a:solidFill>
                  <a:srgbClr val="FFFFFF"/>
                </a:solidFill>
                <a:latin typeface="Calibri"/>
              </a:defRPr>
            </a:pPr>
            <a:r>
              <a:t>KINESIS: HOW IT WORKS</a:t>
            </a:r>
          </a:p>
        </p:txBody>
      </p:sp>
      <p:sp>
        <p:nvSpPr>
          <p:cNvPr id="4" name="TextBox 3"/>
          <p:cNvSpPr txBox="1"/>
          <p:nvPr/>
        </p:nvSpPr>
        <p:spPr>
          <a:xfrm>
            <a:off x="5029200" y="201168"/>
            <a:ext cx="5486400" cy="320040"/>
          </a:xfrm>
          <a:prstGeom prst="rect">
            <a:avLst/>
          </a:prstGeom>
          <a:noFill/>
        </p:spPr>
        <p:txBody>
          <a:bodyPr wrap="square">
            <a:spAutoFit/>
          </a:bodyPr>
          <a:lstStyle/>
          <a:p>
            <a:pPr algn="l">
              <a:defRPr sz="1100" b="0" i="1">
                <a:solidFill>
                  <a:srgbClr val="6B7B93"/>
                </a:solidFill>
                <a:latin typeface="Calibri"/>
              </a:defRPr>
            </a:pPr>
            <a:r>
              <a:t>System Architecture  •  Signal Pipeline  •  Geometry Optimization</a:t>
            </a:r>
          </a:p>
        </p:txBody>
      </p:sp>
      <p:pic>
        <p:nvPicPr>
          <p:cNvPr id="5" name="Picture 4" descr="slide3_architecture_1787818174171.png"/>
          <p:cNvPicPr>
            <a:picLocks noChangeAspect="1"/>
          </p:cNvPicPr>
          <p:nvPr/>
        </p:nvPicPr>
        <p:blipFill>
          <a:blip r:embed="rId2"/>
          <a:stretch>
            <a:fillRect/>
          </a:stretch>
        </p:blipFill>
        <p:spPr>
          <a:xfrm>
            <a:off x="182880" y="548640"/>
            <a:ext cx="7772400" cy="5852160"/>
          </a:xfrm>
          <a:prstGeom prst="rect">
            <a:avLst/>
          </a:prstGeom>
        </p:spPr>
      </p:pic>
      <p:sp>
        <p:nvSpPr>
          <p:cNvPr id="6" name="Rounded Rectangle 5"/>
          <p:cNvSpPr/>
          <p:nvPr/>
        </p:nvSpPr>
        <p:spPr>
          <a:xfrm>
            <a:off x="8138160" y="640080"/>
            <a:ext cx="3749039" cy="1554480"/>
          </a:xfrm>
          <a:prstGeom prst="roundRect">
            <a:avLst/>
          </a:prstGeom>
          <a:solidFill>
            <a:srgbClr val="121725"/>
          </a:solidFill>
          <a:ln w="9525">
            <a:solidFill>
              <a:srgbClr val="009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685800"/>
            <a:ext cx="3200400" cy="274320"/>
          </a:xfrm>
          <a:prstGeom prst="rect">
            <a:avLst/>
          </a:prstGeom>
          <a:noFill/>
        </p:spPr>
        <p:txBody>
          <a:bodyPr wrap="square">
            <a:spAutoFit/>
          </a:bodyPr>
          <a:lstStyle/>
          <a:p>
            <a:pPr algn="l">
              <a:defRPr sz="1300" b="1" i="0">
                <a:solidFill>
                  <a:srgbClr val="00E5CC"/>
                </a:solidFill>
                <a:latin typeface="Calibri"/>
              </a:defRPr>
            </a:pPr>
            <a:r>
              <a:t>① EMBEDDED ACQUISITION</a:t>
            </a:r>
          </a:p>
        </p:txBody>
      </p:sp>
      <p:sp>
        <p:nvSpPr>
          <p:cNvPr id="8" name="TextBox 7"/>
          <p:cNvSpPr txBox="1"/>
          <p:nvPr/>
        </p:nvSpPr>
        <p:spPr>
          <a:xfrm>
            <a:off x="8275320" y="960120"/>
            <a:ext cx="3474720" cy="1097280"/>
          </a:xfrm>
          <a:prstGeom prst="rect">
            <a:avLst/>
          </a:prstGeom>
          <a:noFill/>
        </p:spPr>
        <p:txBody>
          <a:bodyPr wrap="square">
            <a:spAutoFit/>
          </a:bodyPr>
          <a:lstStyle/>
          <a:p>
            <a:pPr algn="l">
              <a:defRPr sz="1000" b="0" i="0">
                <a:solidFill>
                  <a:srgbClr val="B0BCCE"/>
                </a:solidFill>
                <a:latin typeface="Calibri"/>
              </a:defRPr>
            </a:pPr>
            <a:r>
              <a:t>2 × ESP32-S3 collect raw CSI</a:t>
            </a:r>
          </a:p>
          <a:p>
            <a:pPr algn="l">
              <a:spcAft>
                <a:spcPts val="200"/>
              </a:spcAft>
              <a:defRPr sz="900" b="0" i="0">
                <a:solidFill>
                  <a:srgbClr val="6B7B93"/>
                </a:solidFill>
                <a:latin typeface="Calibri"/>
              </a:defRPr>
            </a:pPr>
            <a:r>
              <a:t>  ▸  OFDM subcarrier amplitudes + phases</a:t>
            </a:r>
          </a:p>
          <a:p>
            <a:pPr algn="l">
              <a:spcAft>
                <a:spcPts val="200"/>
              </a:spcAft>
              <a:defRPr sz="900" b="0" i="0">
                <a:solidFill>
                  <a:srgbClr val="6B7B93"/>
                </a:solidFill>
                <a:latin typeface="Calibri"/>
              </a:defRPr>
            </a:pPr>
            <a:r>
              <a:t>  ▸  ~100 Hz sampling rate per link</a:t>
            </a:r>
          </a:p>
          <a:p>
            <a:pPr algn="l">
              <a:defRPr sz="900" b="0" i="0">
                <a:solidFill>
                  <a:srgbClr val="6B7B93"/>
                </a:solidFill>
                <a:latin typeface="Calibri"/>
              </a:defRPr>
            </a:pPr>
            <a:r>
              <a:t>  ▸  Stream via UART/UDP to laptop</a:t>
            </a:r>
          </a:p>
        </p:txBody>
      </p:sp>
      <p:sp>
        <p:nvSpPr>
          <p:cNvPr id="9" name="Rounded Rectangle 8"/>
          <p:cNvSpPr/>
          <p:nvPr/>
        </p:nvSpPr>
        <p:spPr>
          <a:xfrm>
            <a:off x="8138160" y="2377440"/>
            <a:ext cx="3749039" cy="2377440"/>
          </a:xfrm>
          <a:prstGeom prst="roundRect">
            <a:avLst/>
          </a:prstGeom>
          <a:solidFill>
            <a:srgbClr val="121725"/>
          </a:solidFill>
          <a:ln w="9525">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423160"/>
            <a:ext cx="3200400" cy="274320"/>
          </a:xfrm>
          <a:prstGeom prst="rect">
            <a:avLst/>
          </a:prstGeom>
          <a:noFill/>
        </p:spPr>
        <p:txBody>
          <a:bodyPr wrap="square">
            <a:spAutoFit/>
          </a:bodyPr>
          <a:lstStyle/>
          <a:p>
            <a:pPr algn="l">
              <a:defRPr sz="1300" b="1" i="0">
                <a:solidFill>
                  <a:srgbClr val="388BFD"/>
                </a:solidFill>
                <a:latin typeface="Calibri"/>
              </a:defRPr>
            </a:pPr>
            <a:r>
              <a:t>② PC-SIDE PROCESSING</a:t>
            </a:r>
          </a:p>
        </p:txBody>
      </p:sp>
      <p:sp>
        <p:nvSpPr>
          <p:cNvPr id="11" name="TextBox 10"/>
          <p:cNvSpPr txBox="1"/>
          <p:nvPr/>
        </p:nvSpPr>
        <p:spPr>
          <a:xfrm>
            <a:off x="8321040" y="2697480"/>
            <a:ext cx="1188720" cy="201168"/>
          </a:xfrm>
          <a:prstGeom prst="rect">
            <a:avLst/>
          </a:prstGeom>
          <a:noFill/>
        </p:spPr>
        <p:txBody>
          <a:bodyPr wrap="square">
            <a:spAutoFit/>
          </a:bodyPr>
          <a:lstStyle/>
          <a:p>
            <a:pPr algn="l">
              <a:defRPr sz="900" b="1" i="0">
                <a:solidFill>
                  <a:srgbClr val="00E5CC"/>
                </a:solidFill>
                <a:latin typeface="Calibri"/>
              </a:defRPr>
            </a:pPr>
            <a:r>
              <a:t>CSI →</a:t>
            </a:r>
          </a:p>
        </p:txBody>
      </p:sp>
      <p:sp>
        <p:nvSpPr>
          <p:cNvPr id="12" name="TextBox 11"/>
          <p:cNvSpPr txBox="1"/>
          <p:nvPr/>
        </p:nvSpPr>
        <p:spPr>
          <a:xfrm>
            <a:off x="9509760" y="2697480"/>
            <a:ext cx="2286000" cy="201168"/>
          </a:xfrm>
          <a:prstGeom prst="rect">
            <a:avLst/>
          </a:prstGeom>
          <a:noFill/>
        </p:spPr>
        <p:txBody>
          <a:bodyPr wrap="square">
            <a:spAutoFit/>
          </a:bodyPr>
          <a:lstStyle/>
          <a:p>
            <a:pPr algn="l">
              <a:defRPr sz="900" b="0" i="0">
                <a:solidFill>
                  <a:srgbClr val="B0BCCE"/>
                </a:solidFill>
                <a:latin typeface="Calibri"/>
              </a:defRPr>
            </a:pPr>
            <a:r>
              <a:t>Raw subcarrier data</a:t>
            </a:r>
          </a:p>
        </p:txBody>
      </p:sp>
      <p:sp>
        <p:nvSpPr>
          <p:cNvPr id="13" name="TextBox 12"/>
          <p:cNvSpPr txBox="1"/>
          <p:nvPr/>
        </p:nvSpPr>
        <p:spPr>
          <a:xfrm>
            <a:off x="8321040" y="2944368"/>
            <a:ext cx="1188720" cy="201168"/>
          </a:xfrm>
          <a:prstGeom prst="rect">
            <a:avLst/>
          </a:prstGeom>
          <a:noFill/>
        </p:spPr>
        <p:txBody>
          <a:bodyPr wrap="square">
            <a:spAutoFit/>
          </a:bodyPr>
          <a:lstStyle/>
          <a:p>
            <a:pPr algn="l">
              <a:defRPr sz="900" b="1" i="0">
                <a:solidFill>
                  <a:srgbClr val="00E5CC"/>
                </a:solidFill>
                <a:latin typeface="Calibri"/>
              </a:defRPr>
            </a:pPr>
            <a:r>
              <a:t>Denoise →</a:t>
            </a:r>
          </a:p>
        </p:txBody>
      </p:sp>
      <p:sp>
        <p:nvSpPr>
          <p:cNvPr id="14" name="TextBox 13"/>
          <p:cNvSpPr txBox="1"/>
          <p:nvPr/>
        </p:nvSpPr>
        <p:spPr>
          <a:xfrm>
            <a:off x="9509760" y="2944368"/>
            <a:ext cx="2286000" cy="201168"/>
          </a:xfrm>
          <a:prstGeom prst="rect">
            <a:avLst/>
          </a:prstGeom>
          <a:noFill/>
        </p:spPr>
        <p:txBody>
          <a:bodyPr wrap="square">
            <a:spAutoFit/>
          </a:bodyPr>
          <a:lstStyle/>
          <a:p>
            <a:pPr algn="l">
              <a:defRPr sz="900" b="0" i="0">
                <a:solidFill>
                  <a:srgbClr val="B0BCCE"/>
                </a:solidFill>
                <a:latin typeface="Calibri"/>
              </a:defRPr>
            </a:pPr>
            <a:r>
              <a:t>Butterworth / Hampel filter</a:t>
            </a:r>
          </a:p>
        </p:txBody>
      </p:sp>
      <p:sp>
        <p:nvSpPr>
          <p:cNvPr id="15" name="TextBox 14"/>
          <p:cNvSpPr txBox="1"/>
          <p:nvPr/>
        </p:nvSpPr>
        <p:spPr>
          <a:xfrm>
            <a:off x="8321040" y="3191256"/>
            <a:ext cx="1188720" cy="201168"/>
          </a:xfrm>
          <a:prstGeom prst="rect">
            <a:avLst/>
          </a:prstGeom>
          <a:noFill/>
        </p:spPr>
        <p:txBody>
          <a:bodyPr wrap="square">
            <a:spAutoFit/>
          </a:bodyPr>
          <a:lstStyle/>
          <a:p>
            <a:pPr algn="l">
              <a:defRPr sz="900" b="1" i="0">
                <a:solidFill>
                  <a:srgbClr val="00E5CC"/>
                </a:solidFill>
                <a:latin typeface="Calibri"/>
              </a:defRPr>
            </a:pPr>
            <a:r>
              <a:t>Temporal →</a:t>
            </a:r>
          </a:p>
        </p:txBody>
      </p:sp>
      <p:sp>
        <p:nvSpPr>
          <p:cNvPr id="16" name="TextBox 15"/>
          <p:cNvSpPr txBox="1"/>
          <p:nvPr/>
        </p:nvSpPr>
        <p:spPr>
          <a:xfrm>
            <a:off x="9509760" y="3191256"/>
            <a:ext cx="2286000" cy="201168"/>
          </a:xfrm>
          <a:prstGeom prst="rect">
            <a:avLst/>
          </a:prstGeom>
          <a:noFill/>
        </p:spPr>
        <p:txBody>
          <a:bodyPr wrap="square">
            <a:spAutoFit/>
          </a:bodyPr>
          <a:lstStyle/>
          <a:p>
            <a:pPr algn="l">
              <a:defRPr sz="900" b="0" i="0">
                <a:solidFill>
                  <a:srgbClr val="B0BCCE"/>
                </a:solidFill>
                <a:latin typeface="Calibri"/>
              </a:defRPr>
            </a:pPr>
            <a:r>
              <a:t>Sliding window, Δ-features</a:t>
            </a:r>
          </a:p>
        </p:txBody>
      </p:sp>
      <p:sp>
        <p:nvSpPr>
          <p:cNvPr id="17" name="TextBox 16"/>
          <p:cNvSpPr txBox="1"/>
          <p:nvPr/>
        </p:nvSpPr>
        <p:spPr>
          <a:xfrm>
            <a:off x="8321040" y="3438144"/>
            <a:ext cx="1188720" cy="201168"/>
          </a:xfrm>
          <a:prstGeom prst="rect">
            <a:avLst/>
          </a:prstGeom>
          <a:noFill/>
        </p:spPr>
        <p:txBody>
          <a:bodyPr wrap="square">
            <a:spAutoFit/>
          </a:bodyPr>
          <a:lstStyle/>
          <a:p>
            <a:pPr algn="l">
              <a:defRPr sz="900" b="1" i="0">
                <a:solidFill>
                  <a:srgbClr val="00E5CC"/>
                </a:solidFill>
                <a:latin typeface="Calibri"/>
              </a:defRPr>
            </a:pPr>
            <a:r>
              <a:t>Physics →</a:t>
            </a:r>
          </a:p>
        </p:txBody>
      </p:sp>
      <p:sp>
        <p:nvSpPr>
          <p:cNvPr id="18" name="TextBox 17"/>
          <p:cNvSpPr txBox="1"/>
          <p:nvPr/>
        </p:nvSpPr>
        <p:spPr>
          <a:xfrm>
            <a:off x="9509760" y="3438144"/>
            <a:ext cx="2286000" cy="201168"/>
          </a:xfrm>
          <a:prstGeom prst="rect">
            <a:avLst/>
          </a:prstGeom>
          <a:noFill/>
        </p:spPr>
        <p:txBody>
          <a:bodyPr wrap="square">
            <a:spAutoFit/>
          </a:bodyPr>
          <a:lstStyle/>
          <a:p>
            <a:pPr algn="l">
              <a:defRPr sz="900" b="0" i="0">
                <a:solidFill>
                  <a:srgbClr val="B0BCCE"/>
                </a:solidFill>
                <a:latin typeface="Calibri"/>
              </a:defRPr>
            </a:pPr>
            <a:r>
              <a:t>Fresnel-zone-inspired features</a:t>
            </a:r>
          </a:p>
        </p:txBody>
      </p:sp>
      <p:sp>
        <p:nvSpPr>
          <p:cNvPr id="19" name="TextBox 18"/>
          <p:cNvSpPr txBox="1"/>
          <p:nvPr/>
        </p:nvSpPr>
        <p:spPr>
          <a:xfrm>
            <a:off x="8321040" y="3685032"/>
            <a:ext cx="1188720" cy="201168"/>
          </a:xfrm>
          <a:prstGeom prst="rect">
            <a:avLst/>
          </a:prstGeom>
          <a:noFill/>
        </p:spPr>
        <p:txBody>
          <a:bodyPr wrap="square">
            <a:spAutoFit/>
          </a:bodyPr>
          <a:lstStyle/>
          <a:p>
            <a:pPr algn="l">
              <a:defRPr sz="900" b="1" i="0">
                <a:solidFill>
                  <a:srgbClr val="00E5CC"/>
                </a:solidFill>
                <a:latin typeface="Calibri"/>
              </a:defRPr>
            </a:pPr>
            <a:r>
              <a:t>Estimator →</a:t>
            </a:r>
          </a:p>
        </p:txBody>
      </p:sp>
      <p:sp>
        <p:nvSpPr>
          <p:cNvPr id="20" name="TextBox 19"/>
          <p:cNvSpPr txBox="1"/>
          <p:nvPr/>
        </p:nvSpPr>
        <p:spPr>
          <a:xfrm>
            <a:off x="9509760" y="3685032"/>
            <a:ext cx="2286000" cy="201168"/>
          </a:xfrm>
          <a:prstGeom prst="rect">
            <a:avLst/>
          </a:prstGeom>
          <a:noFill/>
        </p:spPr>
        <p:txBody>
          <a:bodyPr wrap="square">
            <a:spAutoFit/>
          </a:bodyPr>
          <a:lstStyle/>
          <a:p>
            <a:pPr algn="l">
              <a:defRPr sz="900" b="0" i="0">
                <a:solidFill>
                  <a:srgbClr val="B0BCCE"/>
                </a:solidFill>
                <a:latin typeface="Calibri"/>
              </a:defRPr>
            </a:pPr>
            <a:r>
              <a:t>Lightweight regression / MLP</a:t>
            </a:r>
          </a:p>
        </p:txBody>
      </p:sp>
      <p:sp>
        <p:nvSpPr>
          <p:cNvPr id="21" name="TextBox 20"/>
          <p:cNvSpPr txBox="1"/>
          <p:nvPr/>
        </p:nvSpPr>
        <p:spPr>
          <a:xfrm>
            <a:off x="8321040" y="3931920"/>
            <a:ext cx="1188720" cy="201168"/>
          </a:xfrm>
          <a:prstGeom prst="rect">
            <a:avLst/>
          </a:prstGeom>
          <a:noFill/>
        </p:spPr>
        <p:txBody>
          <a:bodyPr wrap="square">
            <a:spAutoFit/>
          </a:bodyPr>
          <a:lstStyle/>
          <a:p>
            <a:pPr algn="l">
              <a:defRPr sz="900" b="1" i="0">
                <a:solidFill>
                  <a:srgbClr val="00E5CC"/>
                </a:solidFill>
                <a:latin typeface="Calibri"/>
              </a:defRPr>
            </a:pPr>
            <a:r>
              <a:t>Calibrate →</a:t>
            </a:r>
          </a:p>
        </p:txBody>
      </p:sp>
      <p:sp>
        <p:nvSpPr>
          <p:cNvPr id="22" name="TextBox 21"/>
          <p:cNvSpPr txBox="1"/>
          <p:nvPr/>
        </p:nvSpPr>
        <p:spPr>
          <a:xfrm>
            <a:off x="9509760" y="3931920"/>
            <a:ext cx="2286000" cy="201168"/>
          </a:xfrm>
          <a:prstGeom prst="rect">
            <a:avLst/>
          </a:prstGeom>
          <a:noFill/>
        </p:spPr>
        <p:txBody>
          <a:bodyPr wrap="square">
            <a:spAutoFit/>
          </a:bodyPr>
          <a:lstStyle/>
          <a:p>
            <a:pPr algn="l">
              <a:defRPr sz="900" b="0" i="0">
                <a:solidFill>
                  <a:srgbClr val="B0BCCE"/>
                </a:solidFill>
                <a:latin typeface="Calibri"/>
              </a:defRPr>
            </a:pPr>
            <a:r>
              <a:t>Quick per-session adaptation</a:t>
            </a:r>
          </a:p>
        </p:txBody>
      </p:sp>
      <p:sp>
        <p:nvSpPr>
          <p:cNvPr id="23" name="TextBox 22"/>
          <p:cNvSpPr txBox="1"/>
          <p:nvPr/>
        </p:nvSpPr>
        <p:spPr>
          <a:xfrm>
            <a:off x="8321040" y="4178808"/>
            <a:ext cx="1188720" cy="201168"/>
          </a:xfrm>
          <a:prstGeom prst="rect">
            <a:avLst/>
          </a:prstGeom>
          <a:noFill/>
        </p:spPr>
        <p:txBody>
          <a:bodyPr wrap="square">
            <a:spAutoFit/>
          </a:bodyPr>
          <a:lstStyle/>
          <a:p>
            <a:pPr algn="l">
              <a:defRPr sz="900" b="1" i="0">
                <a:solidFill>
                  <a:srgbClr val="00E5CC"/>
                </a:solidFill>
                <a:latin typeface="Calibri"/>
              </a:defRPr>
            </a:pPr>
            <a:r>
              <a:t>Δx / Δy →</a:t>
            </a:r>
          </a:p>
        </p:txBody>
      </p:sp>
      <p:sp>
        <p:nvSpPr>
          <p:cNvPr id="24" name="TextBox 23"/>
          <p:cNvSpPr txBox="1"/>
          <p:nvPr/>
        </p:nvSpPr>
        <p:spPr>
          <a:xfrm>
            <a:off x="9509760" y="4178808"/>
            <a:ext cx="2286000" cy="201168"/>
          </a:xfrm>
          <a:prstGeom prst="rect">
            <a:avLst/>
          </a:prstGeom>
          <a:noFill/>
        </p:spPr>
        <p:txBody>
          <a:bodyPr wrap="square">
            <a:spAutoFit/>
          </a:bodyPr>
          <a:lstStyle/>
          <a:p>
            <a:pPr algn="l">
              <a:defRPr sz="900" b="0" i="0">
                <a:solidFill>
                  <a:srgbClr val="B0BCCE"/>
                </a:solidFill>
                <a:latin typeface="Calibri"/>
              </a:defRPr>
            </a:pPr>
            <a:r>
              <a:t>Continuous motion vector</a:t>
            </a:r>
          </a:p>
        </p:txBody>
      </p:sp>
      <p:sp>
        <p:nvSpPr>
          <p:cNvPr id="25" name="TextBox 24"/>
          <p:cNvSpPr txBox="1"/>
          <p:nvPr/>
        </p:nvSpPr>
        <p:spPr>
          <a:xfrm>
            <a:off x="8321040" y="4425696"/>
            <a:ext cx="1188720" cy="201168"/>
          </a:xfrm>
          <a:prstGeom prst="rect">
            <a:avLst/>
          </a:prstGeom>
          <a:noFill/>
        </p:spPr>
        <p:txBody>
          <a:bodyPr wrap="square">
            <a:spAutoFit/>
          </a:bodyPr>
          <a:lstStyle/>
          <a:p>
            <a:pPr algn="l">
              <a:defRPr sz="900" b="1" i="0">
                <a:solidFill>
                  <a:srgbClr val="00E5CC"/>
                </a:solidFill>
                <a:latin typeface="Calibri"/>
              </a:defRPr>
            </a:pPr>
            <a:r>
              <a:t>CURSOR</a:t>
            </a:r>
          </a:p>
        </p:txBody>
      </p:sp>
      <p:sp>
        <p:nvSpPr>
          <p:cNvPr id="26" name="TextBox 25"/>
          <p:cNvSpPr txBox="1"/>
          <p:nvPr/>
        </p:nvSpPr>
        <p:spPr>
          <a:xfrm>
            <a:off x="9509760" y="4425696"/>
            <a:ext cx="2286000" cy="201168"/>
          </a:xfrm>
          <a:prstGeom prst="rect">
            <a:avLst/>
          </a:prstGeom>
          <a:noFill/>
        </p:spPr>
        <p:txBody>
          <a:bodyPr wrap="square">
            <a:spAutoFit/>
          </a:bodyPr>
          <a:lstStyle/>
          <a:p>
            <a:pPr algn="l">
              <a:defRPr sz="900" b="0" i="0">
                <a:solidFill>
                  <a:srgbClr val="B0BCCE"/>
                </a:solidFill>
                <a:latin typeface="Calibri"/>
              </a:defRPr>
            </a:pPr>
            <a:r>
              <a:t>Screen pointer update</a:t>
            </a:r>
          </a:p>
        </p:txBody>
      </p:sp>
      <p:sp>
        <p:nvSpPr>
          <p:cNvPr id="27" name="Rounded Rectangle 26"/>
          <p:cNvSpPr/>
          <p:nvPr/>
        </p:nvSpPr>
        <p:spPr>
          <a:xfrm>
            <a:off x="8138160" y="4937760"/>
            <a:ext cx="3749039" cy="1645920"/>
          </a:xfrm>
          <a:prstGeom prst="roundRect">
            <a:avLst/>
          </a:prstGeom>
          <a:solidFill>
            <a:srgbClr val="1A150A"/>
          </a:solidFill>
          <a:ln w="9525">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4983480"/>
            <a:ext cx="3200400" cy="274320"/>
          </a:xfrm>
          <a:prstGeom prst="rect">
            <a:avLst/>
          </a:prstGeom>
          <a:noFill/>
        </p:spPr>
        <p:txBody>
          <a:bodyPr wrap="square">
            <a:spAutoFit/>
          </a:bodyPr>
          <a:lstStyle/>
          <a:p>
            <a:pPr algn="l">
              <a:defRPr sz="1300" b="1" i="0">
                <a:solidFill>
                  <a:srgbClr val="FFB800"/>
                </a:solidFill>
                <a:latin typeface="Calibri"/>
              </a:defRPr>
            </a:pPr>
            <a:r>
              <a:t>③ KEY INSIGHT: GEOMETRY MATTERS</a:t>
            </a:r>
          </a:p>
        </p:txBody>
      </p:sp>
      <p:sp>
        <p:nvSpPr>
          <p:cNvPr id="29" name="TextBox 28"/>
          <p:cNvSpPr txBox="1"/>
          <p:nvPr/>
        </p:nvSpPr>
        <p:spPr>
          <a:xfrm>
            <a:off x="8275320" y="5303520"/>
            <a:ext cx="3474720" cy="1188720"/>
          </a:xfrm>
          <a:prstGeom prst="rect">
            <a:avLst/>
          </a:prstGeom>
          <a:noFill/>
        </p:spPr>
        <p:txBody>
          <a:bodyPr wrap="square">
            <a:spAutoFit/>
          </a:bodyPr>
          <a:lstStyle/>
          <a:p>
            <a:pPr algn="l">
              <a:spcAft>
                <a:spcPts val="400"/>
              </a:spcAft>
              <a:defRPr sz="1000" b="0" i="0">
                <a:solidFill>
                  <a:srgbClr val="B0BCCE"/>
                </a:solidFill>
                <a:latin typeface="Calibri"/>
              </a:defRPr>
            </a:pPr>
            <a:r>
              <a:t>TX/RX placement changes sensitivity</a:t>
            </a:r>
          </a:p>
          <a:p>
            <a:pPr algn="l">
              <a:defRPr sz="900" b="0" i="0">
                <a:solidFill>
                  <a:srgbClr val="FF4D6A"/>
                </a:solidFill>
                <a:latin typeface="Calibri"/>
              </a:defRPr>
            </a:pPr>
            <a:r>
              <a:t>  ✕  Collinear → low spatial diversity</a:t>
            </a:r>
          </a:p>
          <a:p>
            <a:pPr algn="l">
              <a:spcAft>
                <a:spcPts val="600"/>
              </a:spcAft>
              <a:defRPr sz="900" b="0" i="0">
                <a:solidFill>
                  <a:srgbClr val="00E576"/>
                </a:solidFill>
                <a:latin typeface="Calibri"/>
              </a:defRPr>
            </a:pPr>
            <a:r>
              <a:t>  ✓  Angled → richer multipath variation</a:t>
            </a:r>
          </a:p>
          <a:p>
            <a:pPr algn="l">
              <a:defRPr sz="800" b="0" i="1">
                <a:solidFill>
                  <a:srgbClr val="6B7B93"/>
                </a:solidFill>
                <a:latin typeface="Calibri"/>
              </a:defRPr>
            </a:pPr>
            <a:r>
              <a:t>Inspired by RIS research (future work)</a:t>
            </a:r>
          </a:p>
          <a:p>
            <a:pPr algn="l">
              <a:defRPr sz="800" b="0" i="1">
                <a:solidFill>
                  <a:srgbClr val="FFB800"/>
                </a:solidFill>
                <a:latin typeface="Calibri"/>
              </a:defRPr>
            </a:pPr>
            <a:r>
              <a:t>  Can geometry be optimized without an actual RIS?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5486400" cy="457200"/>
          </a:xfrm>
          <a:prstGeom prst="rect">
            <a:avLst/>
          </a:prstGeom>
          <a:noFill/>
        </p:spPr>
        <p:txBody>
          <a:bodyPr wrap="square">
            <a:spAutoFit/>
          </a:bodyPr>
          <a:lstStyle/>
          <a:p>
            <a:pPr algn="l">
              <a:defRPr sz="2600" b="1" i="0">
                <a:solidFill>
                  <a:srgbClr val="FFFFFF"/>
                </a:solidFill>
                <a:latin typeface="Calibri"/>
              </a:defRPr>
            </a:pPr>
            <a:r>
              <a:t>CAN IT ACTUALLY WORK?</a:t>
            </a:r>
          </a:p>
        </p:txBody>
      </p:sp>
      <p:sp>
        <p:nvSpPr>
          <p:cNvPr id="4" name="TextBox 3"/>
          <p:cNvSpPr txBox="1"/>
          <p:nvPr/>
        </p:nvSpPr>
        <p:spPr>
          <a:xfrm>
            <a:off x="5943600" y="201168"/>
            <a:ext cx="5486400" cy="320040"/>
          </a:xfrm>
          <a:prstGeom prst="rect">
            <a:avLst/>
          </a:prstGeom>
          <a:noFill/>
        </p:spPr>
        <p:txBody>
          <a:bodyPr wrap="square">
            <a:spAutoFit/>
          </a:bodyPr>
          <a:lstStyle/>
          <a:p>
            <a:pPr algn="l">
              <a:defRPr sz="1100" b="0" i="1">
                <a:solidFill>
                  <a:srgbClr val="6B7B93"/>
                </a:solidFill>
                <a:latin typeface="Calibri"/>
              </a:defRPr>
            </a:pPr>
            <a:r>
              <a:t>Experimental Design  •  Hypotheses  •  Evaluation Metrics</a:t>
            </a:r>
          </a:p>
        </p:txBody>
      </p:sp>
      <p:pic>
        <p:nvPicPr>
          <p:cNvPr id="5" name="Picture 4" descr="slide4_experiment_1787818226897.png"/>
          <p:cNvPicPr>
            <a:picLocks noChangeAspect="1"/>
          </p:cNvPicPr>
          <p:nvPr/>
        </p:nvPicPr>
        <p:blipFill>
          <a:blip r:embed="rId2"/>
          <a:stretch>
            <a:fillRect/>
          </a:stretch>
        </p:blipFill>
        <p:spPr>
          <a:xfrm>
            <a:off x="182880" y="548640"/>
            <a:ext cx="5669280" cy="4297680"/>
          </a:xfrm>
          <a:prstGeom prst="rect">
            <a:avLst/>
          </a:prstGeom>
        </p:spPr>
      </p:pic>
      <p:sp>
        <p:nvSpPr>
          <p:cNvPr id="6" name="TextBox 5"/>
          <p:cNvSpPr txBox="1"/>
          <p:nvPr/>
        </p:nvSpPr>
        <p:spPr>
          <a:xfrm>
            <a:off x="6126480" y="640080"/>
            <a:ext cx="3657600" cy="274320"/>
          </a:xfrm>
          <a:prstGeom prst="rect">
            <a:avLst/>
          </a:prstGeom>
          <a:noFill/>
        </p:spPr>
        <p:txBody>
          <a:bodyPr wrap="square">
            <a:spAutoFit/>
          </a:bodyPr>
          <a:lstStyle/>
          <a:p>
            <a:pPr algn="l">
              <a:defRPr sz="1600" b="1" i="0">
                <a:solidFill>
                  <a:srgbClr val="00E5CC"/>
                </a:solidFill>
                <a:latin typeface="Calibri"/>
              </a:defRPr>
            </a:pPr>
            <a:r>
              <a:t>TESTABLE HYPOTHESES</a:t>
            </a:r>
          </a:p>
        </p:txBody>
      </p:sp>
      <p:sp>
        <p:nvSpPr>
          <p:cNvPr id="7" name="Rounded Rectangle 6"/>
          <p:cNvSpPr/>
          <p:nvPr/>
        </p:nvSpPr>
        <p:spPr>
          <a:xfrm>
            <a:off x="6126480" y="1005840"/>
            <a:ext cx="5669280" cy="804672"/>
          </a:xfrm>
          <a:prstGeom prst="roundRect">
            <a:avLst/>
          </a:prstGeom>
          <a:solidFill>
            <a:srgbClr val="121725"/>
          </a:solidFill>
          <a:ln w="9525">
            <a:solidFill>
              <a:srgbClr val="00E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63640" y="1097280"/>
            <a:ext cx="502920" cy="292608"/>
          </a:xfrm>
          <a:prstGeom prst="round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1097280"/>
            <a:ext cx="502920" cy="292608"/>
          </a:xfrm>
          <a:prstGeom prst="rect">
            <a:avLst/>
          </a:prstGeom>
          <a:noFill/>
        </p:spPr>
        <p:txBody>
          <a:bodyPr wrap="square">
            <a:spAutoFit/>
          </a:bodyPr>
          <a:lstStyle/>
          <a:p>
            <a:pPr algn="ctr">
              <a:defRPr sz="1100" b="1" i="0">
                <a:solidFill>
                  <a:srgbClr val="0B0E17"/>
                </a:solidFill>
                <a:latin typeface="Calibri"/>
              </a:defRPr>
            </a:pPr>
            <a:r>
              <a:t>H₁</a:t>
            </a:r>
          </a:p>
        </p:txBody>
      </p:sp>
      <p:sp>
        <p:nvSpPr>
          <p:cNvPr id="10" name="TextBox 9"/>
          <p:cNvSpPr txBox="1"/>
          <p:nvPr/>
        </p:nvSpPr>
        <p:spPr>
          <a:xfrm>
            <a:off x="6903720" y="1069848"/>
            <a:ext cx="1828800" cy="228600"/>
          </a:xfrm>
          <a:prstGeom prst="rect">
            <a:avLst/>
          </a:prstGeom>
          <a:noFill/>
        </p:spPr>
        <p:txBody>
          <a:bodyPr wrap="square">
            <a:spAutoFit/>
          </a:bodyPr>
          <a:lstStyle/>
          <a:p>
            <a:pPr algn="l">
              <a:defRPr sz="1200" b="1" i="0">
                <a:solidFill>
                  <a:srgbClr val="00E5CC"/>
                </a:solidFill>
                <a:latin typeface="Calibri"/>
              </a:defRPr>
            </a:pPr>
            <a:r>
              <a:t>FEASIBILITY</a:t>
            </a:r>
          </a:p>
        </p:txBody>
      </p:sp>
      <p:sp>
        <p:nvSpPr>
          <p:cNvPr id="11" name="TextBox 10"/>
          <p:cNvSpPr txBox="1"/>
          <p:nvPr/>
        </p:nvSpPr>
        <p:spPr>
          <a:xfrm>
            <a:off x="6903720" y="1298448"/>
            <a:ext cx="4754880" cy="475488"/>
          </a:xfrm>
          <a:prstGeom prst="rect">
            <a:avLst/>
          </a:prstGeom>
          <a:noFill/>
        </p:spPr>
        <p:txBody>
          <a:bodyPr wrap="square">
            <a:spAutoFit/>
          </a:bodyPr>
          <a:lstStyle/>
          <a:p>
            <a:pPr algn="l">
              <a:defRPr sz="900" b="0" i="0">
                <a:solidFill>
                  <a:srgbClr val="B0BCCE"/>
                </a:solidFill>
                <a:latin typeface="Calibri"/>
              </a:defRPr>
            </a:pPr>
            <a:r>
              <a:t>Commodity CSI can encode enough information</a:t>
            </a:r>
            <a:br/>
            <a:r>
              <a:t>for continuous 2D motion estimation</a:t>
            </a:r>
          </a:p>
        </p:txBody>
      </p:sp>
      <p:sp>
        <p:nvSpPr>
          <p:cNvPr id="12" name="Rounded Rectangle 11"/>
          <p:cNvSpPr/>
          <p:nvPr/>
        </p:nvSpPr>
        <p:spPr>
          <a:xfrm>
            <a:off x="6126480" y="1920240"/>
            <a:ext cx="5669280" cy="804672"/>
          </a:xfrm>
          <a:prstGeom prst="roundRect">
            <a:avLst/>
          </a:prstGeom>
          <a:solidFill>
            <a:srgbClr val="121725"/>
          </a:solidFill>
          <a:ln w="9525">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2011680"/>
            <a:ext cx="502920" cy="292608"/>
          </a:xfrm>
          <a:prstGeom prst="round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011680"/>
            <a:ext cx="502920" cy="292608"/>
          </a:xfrm>
          <a:prstGeom prst="rect">
            <a:avLst/>
          </a:prstGeom>
          <a:noFill/>
        </p:spPr>
        <p:txBody>
          <a:bodyPr wrap="square">
            <a:spAutoFit/>
          </a:bodyPr>
          <a:lstStyle/>
          <a:p>
            <a:pPr algn="ctr">
              <a:defRPr sz="1100" b="1" i="0">
                <a:solidFill>
                  <a:srgbClr val="0B0E17"/>
                </a:solidFill>
                <a:latin typeface="Calibri"/>
              </a:defRPr>
            </a:pPr>
            <a:r>
              <a:t>H₂</a:t>
            </a:r>
          </a:p>
        </p:txBody>
      </p:sp>
      <p:sp>
        <p:nvSpPr>
          <p:cNvPr id="15" name="TextBox 14"/>
          <p:cNvSpPr txBox="1"/>
          <p:nvPr/>
        </p:nvSpPr>
        <p:spPr>
          <a:xfrm>
            <a:off x="6903720" y="1984248"/>
            <a:ext cx="1828800" cy="228600"/>
          </a:xfrm>
          <a:prstGeom prst="rect">
            <a:avLst/>
          </a:prstGeom>
          <a:noFill/>
        </p:spPr>
        <p:txBody>
          <a:bodyPr wrap="square">
            <a:spAutoFit/>
          </a:bodyPr>
          <a:lstStyle/>
          <a:p>
            <a:pPr algn="l">
              <a:defRPr sz="1200" b="1" i="0">
                <a:solidFill>
                  <a:srgbClr val="FFB800"/>
                </a:solidFill>
                <a:latin typeface="Calibri"/>
              </a:defRPr>
            </a:pPr>
            <a:r>
              <a:t>GEOMETRY</a:t>
            </a:r>
          </a:p>
        </p:txBody>
      </p:sp>
      <p:sp>
        <p:nvSpPr>
          <p:cNvPr id="16" name="TextBox 15"/>
          <p:cNvSpPr txBox="1"/>
          <p:nvPr/>
        </p:nvSpPr>
        <p:spPr>
          <a:xfrm>
            <a:off x="6903720" y="2212848"/>
            <a:ext cx="4754880" cy="475488"/>
          </a:xfrm>
          <a:prstGeom prst="rect">
            <a:avLst/>
          </a:prstGeom>
          <a:noFill/>
        </p:spPr>
        <p:txBody>
          <a:bodyPr wrap="square">
            <a:spAutoFit/>
          </a:bodyPr>
          <a:lstStyle/>
          <a:p>
            <a:pPr algn="l">
              <a:defRPr sz="900" b="0" i="0">
                <a:solidFill>
                  <a:srgbClr val="B0BCCE"/>
                </a:solidFill>
                <a:latin typeface="Calibri"/>
              </a:defRPr>
            </a:pPr>
            <a:r>
              <a:t>Optimized TX/RX placement reduces</a:t>
            </a:r>
            <a:br/>
            <a:r>
              <a:t>pointing error compared to arbitrary placement</a:t>
            </a:r>
          </a:p>
        </p:txBody>
      </p:sp>
      <p:sp>
        <p:nvSpPr>
          <p:cNvPr id="17" name="Rounded Rectangle 16"/>
          <p:cNvSpPr/>
          <p:nvPr/>
        </p:nvSpPr>
        <p:spPr>
          <a:xfrm>
            <a:off x="6126480" y="2834640"/>
            <a:ext cx="5669280" cy="804672"/>
          </a:xfrm>
          <a:prstGeom prst="roundRect">
            <a:avLst/>
          </a:prstGeom>
          <a:solidFill>
            <a:srgbClr val="121725"/>
          </a:solidFill>
          <a:ln w="9525">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63640" y="2926080"/>
            <a:ext cx="502920" cy="292608"/>
          </a:xfrm>
          <a:prstGeom prst="roundRect">
            <a:avLst/>
          </a:prstGeom>
          <a:solidFill>
            <a:srgbClr val="388B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2926080"/>
            <a:ext cx="502920" cy="292608"/>
          </a:xfrm>
          <a:prstGeom prst="rect">
            <a:avLst/>
          </a:prstGeom>
          <a:noFill/>
        </p:spPr>
        <p:txBody>
          <a:bodyPr wrap="square">
            <a:spAutoFit/>
          </a:bodyPr>
          <a:lstStyle/>
          <a:p>
            <a:pPr algn="ctr">
              <a:defRPr sz="1100" b="1" i="0">
                <a:solidFill>
                  <a:srgbClr val="0B0E17"/>
                </a:solidFill>
                <a:latin typeface="Calibri"/>
              </a:defRPr>
            </a:pPr>
            <a:r>
              <a:t>H₃</a:t>
            </a:r>
          </a:p>
        </p:txBody>
      </p:sp>
      <p:sp>
        <p:nvSpPr>
          <p:cNvPr id="20" name="TextBox 19"/>
          <p:cNvSpPr txBox="1"/>
          <p:nvPr/>
        </p:nvSpPr>
        <p:spPr>
          <a:xfrm>
            <a:off x="6903720" y="2898648"/>
            <a:ext cx="1828800" cy="228600"/>
          </a:xfrm>
          <a:prstGeom prst="rect">
            <a:avLst/>
          </a:prstGeom>
          <a:noFill/>
        </p:spPr>
        <p:txBody>
          <a:bodyPr wrap="square">
            <a:spAutoFit/>
          </a:bodyPr>
          <a:lstStyle/>
          <a:p>
            <a:pPr algn="l">
              <a:defRPr sz="1200" b="1" i="0">
                <a:solidFill>
                  <a:srgbClr val="388BFD"/>
                </a:solidFill>
                <a:latin typeface="Calibri"/>
              </a:defRPr>
            </a:pPr>
            <a:r>
              <a:t>ADAPTATION</a:t>
            </a:r>
          </a:p>
        </p:txBody>
      </p:sp>
      <p:sp>
        <p:nvSpPr>
          <p:cNvPr id="21" name="TextBox 20"/>
          <p:cNvSpPr txBox="1"/>
          <p:nvPr/>
        </p:nvSpPr>
        <p:spPr>
          <a:xfrm>
            <a:off x="6903720" y="3127248"/>
            <a:ext cx="4754880" cy="475488"/>
          </a:xfrm>
          <a:prstGeom prst="rect">
            <a:avLst/>
          </a:prstGeom>
          <a:noFill/>
        </p:spPr>
        <p:txBody>
          <a:bodyPr wrap="square">
            <a:spAutoFit/>
          </a:bodyPr>
          <a:lstStyle/>
          <a:p>
            <a:pPr algn="l">
              <a:defRPr sz="900" b="0" i="0">
                <a:solidFill>
                  <a:srgbClr val="B0BCCE"/>
                </a:solidFill>
                <a:latin typeface="Calibri"/>
              </a:defRPr>
            </a:pPr>
            <a:r>
              <a:t>Quick per-session calibration improves</a:t>
            </a:r>
            <a:br/>
            <a:r>
              <a:t>cross-user and cross-position robustness</a:t>
            </a:r>
          </a:p>
        </p:txBody>
      </p:sp>
      <p:sp>
        <p:nvSpPr>
          <p:cNvPr id="22" name="Rounded Rectangle 21"/>
          <p:cNvSpPr/>
          <p:nvPr/>
        </p:nvSpPr>
        <p:spPr>
          <a:xfrm>
            <a:off x="6126480" y="3749040"/>
            <a:ext cx="5669280" cy="804672"/>
          </a:xfrm>
          <a:prstGeom prst="roundRect">
            <a:avLst/>
          </a:prstGeom>
          <a:solidFill>
            <a:srgbClr val="121725"/>
          </a:solidFill>
          <a:ln w="9525">
            <a:solidFill>
              <a:srgbClr val="00E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63640" y="3840480"/>
            <a:ext cx="502920" cy="292608"/>
          </a:xfrm>
          <a:prstGeom prst="roundRect">
            <a:avLst/>
          </a:prstGeom>
          <a:solidFill>
            <a:srgbClr val="00E5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3840480"/>
            <a:ext cx="502920" cy="292608"/>
          </a:xfrm>
          <a:prstGeom prst="rect">
            <a:avLst/>
          </a:prstGeom>
          <a:noFill/>
        </p:spPr>
        <p:txBody>
          <a:bodyPr wrap="square">
            <a:spAutoFit/>
          </a:bodyPr>
          <a:lstStyle/>
          <a:p>
            <a:pPr algn="ctr">
              <a:defRPr sz="1100" b="1" i="0">
                <a:solidFill>
                  <a:srgbClr val="0B0E17"/>
                </a:solidFill>
                <a:latin typeface="Calibri"/>
              </a:defRPr>
            </a:pPr>
            <a:r>
              <a:t>H₄</a:t>
            </a:r>
          </a:p>
        </p:txBody>
      </p:sp>
      <p:sp>
        <p:nvSpPr>
          <p:cNvPr id="25" name="TextBox 24"/>
          <p:cNvSpPr txBox="1"/>
          <p:nvPr/>
        </p:nvSpPr>
        <p:spPr>
          <a:xfrm>
            <a:off x="6903720" y="3813048"/>
            <a:ext cx="1828800" cy="228600"/>
          </a:xfrm>
          <a:prstGeom prst="rect">
            <a:avLst/>
          </a:prstGeom>
          <a:noFill/>
        </p:spPr>
        <p:txBody>
          <a:bodyPr wrap="square">
            <a:spAutoFit/>
          </a:bodyPr>
          <a:lstStyle/>
          <a:p>
            <a:pPr algn="l">
              <a:defRPr sz="1200" b="1" i="0">
                <a:solidFill>
                  <a:srgbClr val="00E576"/>
                </a:solidFill>
                <a:latin typeface="Calibri"/>
              </a:defRPr>
            </a:pPr>
            <a:r>
              <a:t>EFFICIENCY</a:t>
            </a:r>
          </a:p>
        </p:txBody>
      </p:sp>
      <p:sp>
        <p:nvSpPr>
          <p:cNvPr id="26" name="TextBox 25"/>
          <p:cNvSpPr txBox="1"/>
          <p:nvPr/>
        </p:nvSpPr>
        <p:spPr>
          <a:xfrm>
            <a:off x="6903720" y="4041648"/>
            <a:ext cx="4754880" cy="475488"/>
          </a:xfrm>
          <a:prstGeom prst="rect">
            <a:avLst/>
          </a:prstGeom>
          <a:noFill/>
        </p:spPr>
        <p:txBody>
          <a:bodyPr wrap="square">
            <a:spAutoFit/>
          </a:bodyPr>
          <a:lstStyle/>
          <a:p>
            <a:pPr algn="l">
              <a:defRPr sz="900" b="0" i="0">
                <a:solidFill>
                  <a:srgbClr val="B0BCCE"/>
                </a:solidFill>
                <a:latin typeface="Calibri"/>
              </a:defRPr>
            </a:pPr>
            <a:r>
              <a:t>Physics-inspired features enable lightweight</a:t>
            </a:r>
            <a:br/>
            <a:r>
              <a:t>estimation without large deep networks</a:t>
            </a:r>
          </a:p>
        </p:txBody>
      </p:sp>
      <p:sp>
        <p:nvSpPr>
          <p:cNvPr id="27" name="TextBox 26"/>
          <p:cNvSpPr txBox="1"/>
          <p:nvPr/>
        </p:nvSpPr>
        <p:spPr>
          <a:xfrm>
            <a:off x="457200" y="4983480"/>
            <a:ext cx="4572000" cy="274320"/>
          </a:xfrm>
          <a:prstGeom prst="rect">
            <a:avLst/>
          </a:prstGeom>
          <a:noFill/>
        </p:spPr>
        <p:txBody>
          <a:bodyPr wrap="square">
            <a:spAutoFit/>
          </a:bodyPr>
          <a:lstStyle/>
          <a:p>
            <a:pPr algn="l">
              <a:defRPr sz="1400" b="1" i="0">
                <a:solidFill>
                  <a:srgbClr val="FFFFFF"/>
                </a:solidFill>
                <a:latin typeface="Calibri"/>
              </a:defRPr>
            </a:pPr>
            <a:r>
              <a:t>CONTROLLED VARIATIONS</a:t>
            </a:r>
          </a:p>
        </p:txBody>
      </p:sp>
      <p:sp>
        <p:nvSpPr>
          <p:cNvPr id="28" name="Rounded Rectangle 27"/>
          <p:cNvSpPr/>
          <p:nvPr/>
        </p:nvSpPr>
        <p:spPr>
          <a:xfrm>
            <a:off x="457200" y="5303520"/>
            <a:ext cx="1371600" cy="594360"/>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5321808"/>
            <a:ext cx="1188720" cy="201168"/>
          </a:xfrm>
          <a:prstGeom prst="rect">
            <a:avLst/>
          </a:prstGeom>
          <a:noFill/>
        </p:spPr>
        <p:txBody>
          <a:bodyPr wrap="square">
            <a:spAutoFit/>
          </a:bodyPr>
          <a:lstStyle/>
          <a:p>
            <a:pPr algn="ctr">
              <a:defRPr sz="1000" b="1" i="0">
                <a:solidFill>
                  <a:srgbClr val="00E5CC"/>
                </a:solidFill>
                <a:latin typeface="Calibri"/>
              </a:defRPr>
            </a:pPr>
            <a:r>
              <a:t>USER</a:t>
            </a:r>
          </a:p>
        </p:txBody>
      </p:sp>
      <p:sp>
        <p:nvSpPr>
          <p:cNvPr id="30" name="TextBox 29"/>
          <p:cNvSpPr txBox="1"/>
          <p:nvPr/>
        </p:nvSpPr>
        <p:spPr>
          <a:xfrm>
            <a:off x="530352" y="5486400"/>
            <a:ext cx="1188720" cy="201168"/>
          </a:xfrm>
          <a:prstGeom prst="rect">
            <a:avLst/>
          </a:prstGeom>
          <a:noFill/>
        </p:spPr>
        <p:txBody>
          <a:bodyPr wrap="square">
            <a:spAutoFit/>
          </a:bodyPr>
          <a:lstStyle/>
          <a:p>
            <a:pPr algn="ctr">
              <a:defRPr sz="900" b="0" i="0">
                <a:solidFill>
                  <a:srgbClr val="FFFFFF"/>
                </a:solidFill>
                <a:latin typeface="Calibri"/>
              </a:defRPr>
            </a:pPr>
            <a:r>
              <a:t>A → B → C</a:t>
            </a:r>
          </a:p>
        </p:txBody>
      </p:sp>
      <p:sp>
        <p:nvSpPr>
          <p:cNvPr id="31" name="TextBox 30"/>
          <p:cNvSpPr txBox="1"/>
          <p:nvPr/>
        </p:nvSpPr>
        <p:spPr>
          <a:xfrm>
            <a:off x="530352" y="5650992"/>
            <a:ext cx="1188720" cy="182880"/>
          </a:xfrm>
          <a:prstGeom prst="rect">
            <a:avLst/>
          </a:prstGeom>
          <a:noFill/>
        </p:spPr>
        <p:txBody>
          <a:bodyPr wrap="square">
            <a:spAutoFit/>
          </a:bodyPr>
          <a:lstStyle/>
          <a:p>
            <a:pPr algn="ctr">
              <a:defRPr sz="800" b="0" i="1">
                <a:solidFill>
                  <a:srgbClr val="6B7B93"/>
                </a:solidFill>
                <a:latin typeface="Calibri"/>
              </a:defRPr>
            </a:pPr>
            <a:r>
              <a:t>Cross-user</a:t>
            </a:r>
          </a:p>
        </p:txBody>
      </p:sp>
      <p:sp>
        <p:nvSpPr>
          <p:cNvPr id="32" name="Rounded Rectangle 31"/>
          <p:cNvSpPr/>
          <p:nvPr/>
        </p:nvSpPr>
        <p:spPr>
          <a:xfrm>
            <a:off x="1965960" y="5303520"/>
            <a:ext cx="1371600" cy="594360"/>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39112" y="5321808"/>
            <a:ext cx="1188720" cy="201168"/>
          </a:xfrm>
          <a:prstGeom prst="rect">
            <a:avLst/>
          </a:prstGeom>
          <a:noFill/>
        </p:spPr>
        <p:txBody>
          <a:bodyPr wrap="square">
            <a:spAutoFit/>
          </a:bodyPr>
          <a:lstStyle/>
          <a:p>
            <a:pPr algn="ctr">
              <a:defRPr sz="1000" b="1" i="0">
                <a:solidFill>
                  <a:srgbClr val="00E5CC"/>
                </a:solidFill>
                <a:latin typeface="Calibri"/>
              </a:defRPr>
            </a:pPr>
            <a:r>
              <a:t>POSITION</a:t>
            </a:r>
          </a:p>
        </p:txBody>
      </p:sp>
      <p:sp>
        <p:nvSpPr>
          <p:cNvPr id="34" name="TextBox 33"/>
          <p:cNvSpPr txBox="1"/>
          <p:nvPr/>
        </p:nvSpPr>
        <p:spPr>
          <a:xfrm>
            <a:off x="2039112" y="5486400"/>
            <a:ext cx="1188720" cy="201168"/>
          </a:xfrm>
          <a:prstGeom prst="rect">
            <a:avLst/>
          </a:prstGeom>
          <a:noFill/>
        </p:spPr>
        <p:txBody>
          <a:bodyPr wrap="square">
            <a:spAutoFit/>
          </a:bodyPr>
          <a:lstStyle/>
          <a:p>
            <a:pPr algn="ctr">
              <a:defRPr sz="900" b="0" i="0">
                <a:solidFill>
                  <a:srgbClr val="FFFFFF"/>
                </a:solidFill>
                <a:latin typeface="Calibri"/>
              </a:defRPr>
            </a:pPr>
            <a:r>
              <a:t>P1 → P2 → P3</a:t>
            </a:r>
          </a:p>
        </p:txBody>
      </p:sp>
      <p:sp>
        <p:nvSpPr>
          <p:cNvPr id="35" name="TextBox 34"/>
          <p:cNvSpPr txBox="1"/>
          <p:nvPr/>
        </p:nvSpPr>
        <p:spPr>
          <a:xfrm>
            <a:off x="2039112" y="5650992"/>
            <a:ext cx="1188720" cy="182880"/>
          </a:xfrm>
          <a:prstGeom prst="rect">
            <a:avLst/>
          </a:prstGeom>
          <a:noFill/>
        </p:spPr>
        <p:txBody>
          <a:bodyPr wrap="square">
            <a:spAutoFit/>
          </a:bodyPr>
          <a:lstStyle/>
          <a:p>
            <a:pPr algn="ctr">
              <a:defRPr sz="800" b="0" i="1">
                <a:solidFill>
                  <a:srgbClr val="6B7B93"/>
                </a:solidFill>
                <a:latin typeface="Calibri"/>
              </a:defRPr>
            </a:pPr>
            <a:r>
              <a:t>Spatial</a:t>
            </a:r>
          </a:p>
        </p:txBody>
      </p:sp>
      <p:sp>
        <p:nvSpPr>
          <p:cNvPr id="36" name="Rounded Rectangle 35"/>
          <p:cNvSpPr/>
          <p:nvPr/>
        </p:nvSpPr>
        <p:spPr>
          <a:xfrm>
            <a:off x="3474720" y="5303520"/>
            <a:ext cx="1371600" cy="594360"/>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47872" y="5321808"/>
            <a:ext cx="1188720" cy="201168"/>
          </a:xfrm>
          <a:prstGeom prst="rect">
            <a:avLst/>
          </a:prstGeom>
          <a:noFill/>
        </p:spPr>
        <p:txBody>
          <a:bodyPr wrap="square">
            <a:spAutoFit/>
          </a:bodyPr>
          <a:lstStyle/>
          <a:p>
            <a:pPr algn="ctr">
              <a:defRPr sz="1000" b="1" i="0">
                <a:solidFill>
                  <a:srgbClr val="00E5CC"/>
                </a:solidFill>
                <a:latin typeface="Calibri"/>
              </a:defRPr>
            </a:pPr>
            <a:r>
              <a:t>GEOMETRY</a:t>
            </a:r>
          </a:p>
        </p:txBody>
      </p:sp>
      <p:sp>
        <p:nvSpPr>
          <p:cNvPr id="38" name="TextBox 37"/>
          <p:cNvSpPr txBox="1"/>
          <p:nvPr/>
        </p:nvSpPr>
        <p:spPr>
          <a:xfrm>
            <a:off x="3547872" y="5486400"/>
            <a:ext cx="1188720" cy="201168"/>
          </a:xfrm>
          <a:prstGeom prst="rect">
            <a:avLst/>
          </a:prstGeom>
          <a:noFill/>
        </p:spPr>
        <p:txBody>
          <a:bodyPr wrap="square">
            <a:spAutoFit/>
          </a:bodyPr>
          <a:lstStyle/>
          <a:p>
            <a:pPr algn="ctr">
              <a:defRPr sz="900" b="0" i="0">
                <a:solidFill>
                  <a:srgbClr val="FFFFFF"/>
                </a:solidFill>
                <a:latin typeface="Calibri"/>
              </a:defRPr>
            </a:pPr>
            <a:r>
              <a:t>G1 → G2 → G3</a:t>
            </a:r>
          </a:p>
        </p:txBody>
      </p:sp>
      <p:sp>
        <p:nvSpPr>
          <p:cNvPr id="39" name="TextBox 38"/>
          <p:cNvSpPr txBox="1"/>
          <p:nvPr/>
        </p:nvSpPr>
        <p:spPr>
          <a:xfrm>
            <a:off x="3547872" y="5650992"/>
            <a:ext cx="1188720" cy="182880"/>
          </a:xfrm>
          <a:prstGeom prst="rect">
            <a:avLst/>
          </a:prstGeom>
          <a:noFill/>
        </p:spPr>
        <p:txBody>
          <a:bodyPr wrap="square">
            <a:spAutoFit/>
          </a:bodyPr>
          <a:lstStyle/>
          <a:p>
            <a:pPr algn="ctr">
              <a:defRPr sz="800" b="0" i="1">
                <a:solidFill>
                  <a:srgbClr val="6B7B93"/>
                </a:solidFill>
                <a:latin typeface="Calibri"/>
              </a:defRPr>
            </a:pPr>
            <a:r>
              <a:t>TX/RX config</a:t>
            </a:r>
          </a:p>
        </p:txBody>
      </p:sp>
      <p:sp>
        <p:nvSpPr>
          <p:cNvPr id="40" name="Rounded Rectangle 39"/>
          <p:cNvSpPr/>
          <p:nvPr/>
        </p:nvSpPr>
        <p:spPr>
          <a:xfrm>
            <a:off x="4983479" y="5303520"/>
            <a:ext cx="1371600" cy="594360"/>
          </a:xfrm>
          <a:prstGeom prst="roundRect">
            <a:avLst/>
          </a:prstGeom>
          <a:solidFill>
            <a:srgbClr val="121725"/>
          </a:solidFill>
          <a:ln w="6350">
            <a:solidFill>
              <a:srgbClr val="3A45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56631" y="5321808"/>
            <a:ext cx="1188720" cy="201168"/>
          </a:xfrm>
          <a:prstGeom prst="rect">
            <a:avLst/>
          </a:prstGeom>
          <a:noFill/>
        </p:spPr>
        <p:txBody>
          <a:bodyPr wrap="square">
            <a:spAutoFit/>
          </a:bodyPr>
          <a:lstStyle/>
          <a:p>
            <a:pPr algn="ctr">
              <a:defRPr sz="1000" b="1" i="0">
                <a:solidFill>
                  <a:srgbClr val="00E5CC"/>
                </a:solidFill>
                <a:latin typeface="Calibri"/>
              </a:defRPr>
            </a:pPr>
            <a:r>
              <a:t>ENVIRON</a:t>
            </a:r>
          </a:p>
        </p:txBody>
      </p:sp>
      <p:sp>
        <p:nvSpPr>
          <p:cNvPr id="42" name="TextBox 41"/>
          <p:cNvSpPr txBox="1"/>
          <p:nvPr/>
        </p:nvSpPr>
        <p:spPr>
          <a:xfrm>
            <a:off x="5056631" y="5486400"/>
            <a:ext cx="1188720" cy="201168"/>
          </a:xfrm>
          <a:prstGeom prst="rect">
            <a:avLst/>
          </a:prstGeom>
          <a:noFill/>
        </p:spPr>
        <p:txBody>
          <a:bodyPr wrap="square">
            <a:spAutoFit/>
          </a:bodyPr>
          <a:lstStyle/>
          <a:p>
            <a:pPr algn="ctr">
              <a:defRPr sz="900" b="0" i="0">
                <a:solidFill>
                  <a:srgbClr val="FFFFFF"/>
                </a:solidFill>
                <a:latin typeface="Calibri"/>
              </a:defRPr>
            </a:pPr>
            <a:r>
              <a:t>Room A → Room B</a:t>
            </a:r>
          </a:p>
        </p:txBody>
      </p:sp>
      <p:sp>
        <p:nvSpPr>
          <p:cNvPr id="43" name="TextBox 42"/>
          <p:cNvSpPr txBox="1"/>
          <p:nvPr/>
        </p:nvSpPr>
        <p:spPr>
          <a:xfrm>
            <a:off x="5056631" y="5650992"/>
            <a:ext cx="1188720" cy="182880"/>
          </a:xfrm>
          <a:prstGeom prst="rect">
            <a:avLst/>
          </a:prstGeom>
          <a:noFill/>
        </p:spPr>
        <p:txBody>
          <a:bodyPr wrap="square">
            <a:spAutoFit/>
          </a:bodyPr>
          <a:lstStyle/>
          <a:p>
            <a:pPr algn="ctr">
              <a:defRPr sz="800" b="0" i="1">
                <a:solidFill>
                  <a:srgbClr val="6B7B93"/>
                </a:solidFill>
                <a:latin typeface="Calibri"/>
              </a:defRPr>
            </a:pPr>
            <a:r>
              <a:t>Cross-env</a:t>
            </a:r>
          </a:p>
        </p:txBody>
      </p:sp>
      <p:sp>
        <p:nvSpPr>
          <p:cNvPr id="44" name="TextBox 43"/>
          <p:cNvSpPr txBox="1"/>
          <p:nvPr/>
        </p:nvSpPr>
        <p:spPr>
          <a:xfrm>
            <a:off x="6675120" y="4983480"/>
            <a:ext cx="2743200" cy="274320"/>
          </a:xfrm>
          <a:prstGeom prst="rect">
            <a:avLst/>
          </a:prstGeom>
          <a:noFill/>
        </p:spPr>
        <p:txBody>
          <a:bodyPr wrap="square">
            <a:spAutoFit/>
          </a:bodyPr>
          <a:lstStyle/>
          <a:p>
            <a:pPr algn="l">
              <a:defRPr sz="1400" b="1" i="0">
                <a:solidFill>
                  <a:srgbClr val="FFFFFF"/>
                </a:solidFill>
                <a:latin typeface="Calibri"/>
              </a:defRPr>
            </a:pPr>
            <a:r>
              <a:t>EVALUATION METRICS</a:t>
            </a:r>
          </a:p>
        </p:txBody>
      </p:sp>
      <p:sp>
        <p:nvSpPr>
          <p:cNvPr id="45" name="TextBox 44"/>
          <p:cNvSpPr txBox="1"/>
          <p:nvPr/>
        </p:nvSpPr>
        <p:spPr>
          <a:xfrm>
            <a:off x="6675120" y="5303520"/>
            <a:ext cx="457200" cy="320040"/>
          </a:xfrm>
          <a:prstGeom prst="rect">
            <a:avLst/>
          </a:prstGeom>
          <a:noFill/>
        </p:spPr>
        <p:txBody>
          <a:bodyPr wrap="square">
            <a:spAutoFit/>
          </a:bodyPr>
          <a:lstStyle/>
          <a:p>
            <a:pPr algn="ctr">
              <a:defRPr sz="2000" b="1" i="0">
                <a:solidFill>
                  <a:srgbClr val="00E5CC"/>
                </a:solidFill>
                <a:latin typeface="Calibri"/>
              </a:defRPr>
            </a:pPr>
            <a:r>
              <a:t>⊕</a:t>
            </a:r>
          </a:p>
        </p:txBody>
      </p:sp>
      <p:sp>
        <p:nvSpPr>
          <p:cNvPr id="46" name="TextBox 45"/>
          <p:cNvSpPr txBox="1"/>
          <p:nvPr/>
        </p:nvSpPr>
        <p:spPr>
          <a:xfrm>
            <a:off x="6583680" y="5623560"/>
            <a:ext cx="822960" cy="457200"/>
          </a:xfrm>
          <a:prstGeom prst="rect">
            <a:avLst/>
          </a:prstGeom>
          <a:noFill/>
        </p:spPr>
        <p:txBody>
          <a:bodyPr wrap="square">
            <a:spAutoFit/>
          </a:bodyPr>
          <a:lstStyle/>
          <a:p>
            <a:pPr algn="ctr">
              <a:defRPr sz="800" b="0" i="0">
                <a:solidFill>
                  <a:srgbClr val="B0BCCE"/>
                </a:solidFill>
                <a:latin typeface="Calibri"/>
              </a:defRPr>
            </a:pPr>
            <a:r>
              <a:t>Pointing</a:t>
            </a:r>
            <a:br/>
            <a:r>
              <a:t>Error</a:t>
            </a:r>
          </a:p>
        </p:txBody>
      </p:sp>
      <p:sp>
        <p:nvSpPr>
          <p:cNvPr id="47" name="TextBox 46"/>
          <p:cNvSpPr txBox="1"/>
          <p:nvPr/>
        </p:nvSpPr>
        <p:spPr>
          <a:xfrm>
            <a:off x="7589520" y="5303520"/>
            <a:ext cx="457200" cy="320040"/>
          </a:xfrm>
          <a:prstGeom prst="rect">
            <a:avLst/>
          </a:prstGeom>
          <a:noFill/>
        </p:spPr>
        <p:txBody>
          <a:bodyPr wrap="square">
            <a:spAutoFit/>
          </a:bodyPr>
          <a:lstStyle/>
          <a:p>
            <a:pPr algn="ctr">
              <a:defRPr sz="2000" b="1" i="0">
                <a:solidFill>
                  <a:srgbClr val="388BFD"/>
                </a:solidFill>
                <a:latin typeface="Calibri"/>
              </a:defRPr>
            </a:pPr>
            <a:r>
              <a:t>〰</a:t>
            </a:r>
          </a:p>
        </p:txBody>
      </p:sp>
      <p:sp>
        <p:nvSpPr>
          <p:cNvPr id="48" name="TextBox 47"/>
          <p:cNvSpPr txBox="1"/>
          <p:nvPr/>
        </p:nvSpPr>
        <p:spPr>
          <a:xfrm>
            <a:off x="7498080" y="5623560"/>
            <a:ext cx="822960" cy="457200"/>
          </a:xfrm>
          <a:prstGeom prst="rect">
            <a:avLst/>
          </a:prstGeom>
          <a:noFill/>
        </p:spPr>
        <p:txBody>
          <a:bodyPr wrap="square">
            <a:spAutoFit/>
          </a:bodyPr>
          <a:lstStyle/>
          <a:p>
            <a:pPr algn="ctr">
              <a:defRPr sz="800" b="0" i="0">
                <a:solidFill>
                  <a:srgbClr val="B0BCCE"/>
                </a:solidFill>
                <a:latin typeface="Calibri"/>
              </a:defRPr>
            </a:pPr>
            <a:r>
              <a:t>Jitter</a:t>
            </a:r>
          </a:p>
        </p:txBody>
      </p:sp>
      <p:sp>
        <p:nvSpPr>
          <p:cNvPr id="49" name="TextBox 48"/>
          <p:cNvSpPr txBox="1"/>
          <p:nvPr/>
        </p:nvSpPr>
        <p:spPr>
          <a:xfrm>
            <a:off x="8503920" y="5303520"/>
            <a:ext cx="457200" cy="320040"/>
          </a:xfrm>
          <a:prstGeom prst="rect">
            <a:avLst/>
          </a:prstGeom>
          <a:noFill/>
        </p:spPr>
        <p:txBody>
          <a:bodyPr wrap="square">
            <a:spAutoFit/>
          </a:bodyPr>
          <a:lstStyle/>
          <a:p>
            <a:pPr algn="ctr">
              <a:defRPr sz="2000" b="1" i="0">
                <a:solidFill>
                  <a:srgbClr val="FFB800"/>
                </a:solidFill>
                <a:latin typeface="Calibri"/>
              </a:defRPr>
            </a:pPr>
            <a:r>
              <a:t>◷</a:t>
            </a:r>
          </a:p>
        </p:txBody>
      </p:sp>
      <p:sp>
        <p:nvSpPr>
          <p:cNvPr id="50" name="TextBox 49"/>
          <p:cNvSpPr txBox="1"/>
          <p:nvPr/>
        </p:nvSpPr>
        <p:spPr>
          <a:xfrm>
            <a:off x="8412480" y="5623560"/>
            <a:ext cx="822960" cy="457200"/>
          </a:xfrm>
          <a:prstGeom prst="rect">
            <a:avLst/>
          </a:prstGeom>
          <a:noFill/>
        </p:spPr>
        <p:txBody>
          <a:bodyPr wrap="square">
            <a:spAutoFit/>
          </a:bodyPr>
          <a:lstStyle/>
          <a:p>
            <a:pPr algn="ctr">
              <a:defRPr sz="800" b="0" i="0">
                <a:solidFill>
                  <a:srgbClr val="B0BCCE"/>
                </a:solidFill>
                <a:latin typeface="Calibri"/>
              </a:defRPr>
            </a:pPr>
            <a:r>
              <a:t>Latency</a:t>
            </a:r>
          </a:p>
        </p:txBody>
      </p:sp>
      <p:sp>
        <p:nvSpPr>
          <p:cNvPr id="51" name="TextBox 50"/>
          <p:cNvSpPr txBox="1"/>
          <p:nvPr/>
        </p:nvSpPr>
        <p:spPr>
          <a:xfrm>
            <a:off x="9418320" y="5303520"/>
            <a:ext cx="457200" cy="320040"/>
          </a:xfrm>
          <a:prstGeom prst="rect">
            <a:avLst/>
          </a:prstGeom>
          <a:noFill/>
        </p:spPr>
        <p:txBody>
          <a:bodyPr wrap="square">
            <a:spAutoFit/>
          </a:bodyPr>
          <a:lstStyle/>
          <a:p>
            <a:pPr algn="ctr">
              <a:defRPr sz="2000" b="1" i="0">
                <a:solidFill>
                  <a:srgbClr val="00E576"/>
                </a:solidFill>
                <a:latin typeface="Calibri"/>
              </a:defRPr>
            </a:pPr>
            <a:r>
              <a:t>⇅</a:t>
            </a:r>
          </a:p>
        </p:txBody>
      </p:sp>
      <p:sp>
        <p:nvSpPr>
          <p:cNvPr id="52" name="TextBox 51"/>
          <p:cNvSpPr txBox="1"/>
          <p:nvPr/>
        </p:nvSpPr>
        <p:spPr>
          <a:xfrm>
            <a:off x="9326880" y="5623560"/>
            <a:ext cx="822960" cy="457200"/>
          </a:xfrm>
          <a:prstGeom prst="rect">
            <a:avLst/>
          </a:prstGeom>
          <a:noFill/>
        </p:spPr>
        <p:txBody>
          <a:bodyPr wrap="square">
            <a:spAutoFit/>
          </a:bodyPr>
          <a:lstStyle/>
          <a:p>
            <a:pPr algn="ctr">
              <a:defRPr sz="800" b="0" i="0">
                <a:solidFill>
                  <a:srgbClr val="B0BCCE"/>
                </a:solidFill>
                <a:latin typeface="Calibri"/>
              </a:defRPr>
            </a:pPr>
            <a:r>
              <a:t>Through-</a:t>
            </a:r>
            <a:br/>
            <a:r>
              <a:t>put</a:t>
            </a:r>
          </a:p>
        </p:txBody>
      </p:sp>
      <p:sp>
        <p:nvSpPr>
          <p:cNvPr id="53" name="TextBox 52"/>
          <p:cNvSpPr txBox="1"/>
          <p:nvPr/>
        </p:nvSpPr>
        <p:spPr>
          <a:xfrm>
            <a:off x="10332720" y="5303520"/>
            <a:ext cx="457200" cy="320040"/>
          </a:xfrm>
          <a:prstGeom prst="rect">
            <a:avLst/>
          </a:prstGeom>
          <a:noFill/>
        </p:spPr>
        <p:txBody>
          <a:bodyPr wrap="square">
            <a:spAutoFit/>
          </a:bodyPr>
          <a:lstStyle/>
          <a:p>
            <a:pPr algn="ctr">
              <a:defRPr sz="2000" b="1" i="0">
                <a:solidFill>
                  <a:srgbClr val="B0BCCE"/>
                </a:solidFill>
                <a:latin typeface="Calibri"/>
              </a:defRPr>
            </a:pPr>
            <a:r>
              <a:t>⏱</a:t>
            </a:r>
          </a:p>
        </p:txBody>
      </p:sp>
      <p:sp>
        <p:nvSpPr>
          <p:cNvPr id="54" name="TextBox 53"/>
          <p:cNvSpPr txBox="1"/>
          <p:nvPr/>
        </p:nvSpPr>
        <p:spPr>
          <a:xfrm>
            <a:off x="10241280" y="5623560"/>
            <a:ext cx="822960" cy="457200"/>
          </a:xfrm>
          <a:prstGeom prst="rect">
            <a:avLst/>
          </a:prstGeom>
          <a:noFill/>
        </p:spPr>
        <p:txBody>
          <a:bodyPr wrap="square">
            <a:spAutoFit/>
          </a:bodyPr>
          <a:lstStyle/>
          <a:p>
            <a:pPr algn="ctr">
              <a:defRPr sz="800" b="0" i="0">
                <a:solidFill>
                  <a:srgbClr val="B0BCCE"/>
                </a:solidFill>
                <a:latin typeface="Calibri"/>
              </a:defRPr>
            </a:pPr>
            <a:r>
              <a:t>Calibration</a:t>
            </a:r>
            <a:br/>
            <a:r>
              <a:t>Time</a:t>
            </a:r>
          </a:p>
        </p:txBody>
      </p:sp>
      <p:sp>
        <p:nvSpPr>
          <p:cNvPr id="55" name="TextBox 54"/>
          <p:cNvSpPr txBox="1"/>
          <p:nvPr/>
        </p:nvSpPr>
        <p:spPr>
          <a:xfrm>
            <a:off x="11247120" y="5303520"/>
            <a:ext cx="457200" cy="320040"/>
          </a:xfrm>
          <a:prstGeom prst="rect">
            <a:avLst/>
          </a:prstGeom>
          <a:noFill/>
        </p:spPr>
        <p:txBody>
          <a:bodyPr wrap="square">
            <a:spAutoFit/>
          </a:bodyPr>
          <a:lstStyle/>
          <a:p>
            <a:pPr algn="ctr">
              <a:defRPr sz="2000" b="1" i="0">
                <a:solidFill>
                  <a:srgbClr val="FF4D6A"/>
                </a:solidFill>
                <a:latin typeface="Calibri"/>
              </a:defRPr>
            </a:pPr>
            <a:r>
              <a:t>👥</a:t>
            </a:r>
          </a:p>
        </p:txBody>
      </p:sp>
      <p:sp>
        <p:nvSpPr>
          <p:cNvPr id="56" name="TextBox 55"/>
          <p:cNvSpPr txBox="1"/>
          <p:nvPr/>
        </p:nvSpPr>
        <p:spPr>
          <a:xfrm>
            <a:off x="11155680" y="5623560"/>
            <a:ext cx="822960" cy="457200"/>
          </a:xfrm>
          <a:prstGeom prst="rect">
            <a:avLst/>
          </a:prstGeom>
          <a:noFill/>
        </p:spPr>
        <p:txBody>
          <a:bodyPr wrap="square">
            <a:spAutoFit/>
          </a:bodyPr>
          <a:lstStyle/>
          <a:p>
            <a:pPr algn="ctr">
              <a:defRPr sz="800" b="0" i="0">
                <a:solidFill>
                  <a:srgbClr val="B0BCCE"/>
                </a:solidFill>
                <a:latin typeface="Calibri"/>
              </a:defRPr>
            </a:pPr>
            <a:r>
              <a:t>Cross-User</a:t>
            </a:r>
            <a:br/>
            <a:r>
              <a:t>Robustness</a:t>
            </a:r>
          </a:p>
        </p:txBody>
      </p:sp>
      <p:sp>
        <p:nvSpPr>
          <p:cNvPr id="57" name="TextBox 56"/>
          <p:cNvSpPr txBox="1"/>
          <p:nvPr/>
        </p:nvSpPr>
        <p:spPr>
          <a:xfrm>
            <a:off x="457200" y="6126480"/>
            <a:ext cx="1828800" cy="274320"/>
          </a:xfrm>
          <a:prstGeom prst="rect">
            <a:avLst/>
          </a:prstGeom>
          <a:noFill/>
        </p:spPr>
        <p:txBody>
          <a:bodyPr wrap="square">
            <a:spAutoFit/>
          </a:bodyPr>
          <a:lstStyle/>
          <a:p>
            <a:pPr algn="l">
              <a:defRPr sz="1200" b="1" i="0">
                <a:solidFill>
                  <a:srgbClr val="FFFFFF"/>
                </a:solidFill>
                <a:latin typeface="Calibri"/>
              </a:defRPr>
            </a:pPr>
            <a:r>
              <a:t>4-WEEK TIMELINE</a:t>
            </a:r>
          </a:p>
        </p:txBody>
      </p:sp>
      <p:sp>
        <p:nvSpPr>
          <p:cNvPr id="58" name="Rounded Rectangle 57"/>
          <p:cNvSpPr/>
          <p:nvPr/>
        </p:nvSpPr>
        <p:spPr>
          <a:xfrm>
            <a:off x="457200" y="6400800"/>
            <a:ext cx="1280160" cy="365760"/>
          </a:xfrm>
          <a:prstGeom prst="roundRect">
            <a:avLst/>
          </a:prstGeom>
          <a:solidFill>
            <a:srgbClr val="121725"/>
          </a:solidFill>
          <a:ln w="9525">
            <a:solidFill>
              <a:srgbClr val="00E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 y="6373368"/>
            <a:ext cx="320040" cy="365760"/>
          </a:xfrm>
          <a:prstGeom prst="rect">
            <a:avLst/>
          </a:prstGeom>
          <a:noFill/>
        </p:spPr>
        <p:txBody>
          <a:bodyPr wrap="square">
            <a:spAutoFit/>
          </a:bodyPr>
          <a:lstStyle/>
          <a:p>
            <a:pPr algn="l">
              <a:defRPr sz="1000" b="1" i="0">
                <a:solidFill>
                  <a:srgbClr val="00E5CC"/>
                </a:solidFill>
                <a:latin typeface="Calibri"/>
              </a:defRPr>
            </a:pPr>
            <a:r>
              <a:t>W1</a:t>
            </a:r>
          </a:p>
        </p:txBody>
      </p:sp>
      <p:sp>
        <p:nvSpPr>
          <p:cNvPr id="60" name="TextBox 59"/>
          <p:cNvSpPr txBox="1"/>
          <p:nvPr/>
        </p:nvSpPr>
        <p:spPr>
          <a:xfrm>
            <a:off x="822960" y="6373368"/>
            <a:ext cx="868680" cy="365760"/>
          </a:xfrm>
          <a:prstGeom prst="rect">
            <a:avLst/>
          </a:prstGeom>
          <a:noFill/>
        </p:spPr>
        <p:txBody>
          <a:bodyPr wrap="square">
            <a:spAutoFit/>
          </a:bodyPr>
          <a:lstStyle/>
          <a:p>
            <a:pPr algn="l">
              <a:defRPr sz="700" b="0" i="0">
                <a:solidFill>
                  <a:srgbClr val="B0BCCE"/>
                </a:solidFill>
                <a:latin typeface="Calibri"/>
              </a:defRPr>
            </a:pPr>
            <a:r>
              <a:t>CSI</a:t>
            </a:r>
            <a:br/>
            <a:r>
              <a:t>Acquisition</a:t>
            </a:r>
          </a:p>
        </p:txBody>
      </p:sp>
      <p:sp>
        <p:nvSpPr>
          <p:cNvPr id="61" name="TextBox 60"/>
          <p:cNvSpPr txBox="1"/>
          <p:nvPr/>
        </p:nvSpPr>
        <p:spPr>
          <a:xfrm>
            <a:off x="1755648" y="6400800"/>
            <a:ext cx="182880" cy="365760"/>
          </a:xfrm>
          <a:prstGeom prst="rect">
            <a:avLst/>
          </a:prstGeom>
          <a:noFill/>
        </p:spPr>
        <p:txBody>
          <a:bodyPr wrap="square">
            <a:spAutoFit/>
          </a:bodyPr>
          <a:lstStyle/>
          <a:p>
            <a:pPr algn="l">
              <a:defRPr sz="1600" b="1" i="0">
                <a:solidFill>
                  <a:srgbClr val="6B7B93"/>
                </a:solidFill>
                <a:latin typeface="Calibri"/>
              </a:defRPr>
            </a:pPr>
            <a:r>
              <a:t>→</a:t>
            </a:r>
          </a:p>
        </p:txBody>
      </p:sp>
      <p:sp>
        <p:nvSpPr>
          <p:cNvPr id="62" name="Rounded Rectangle 61"/>
          <p:cNvSpPr/>
          <p:nvPr/>
        </p:nvSpPr>
        <p:spPr>
          <a:xfrm>
            <a:off x="1965960" y="6400800"/>
            <a:ext cx="1280160" cy="365760"/>
          </a:xfrm>
          <a:prstGeom prst="roundRect">
            <a:avLst/>
          </a:prstGeom>
          <a:solidFill>
            <a:srgbClr val="121725"/>
          </a:solidFill>
          <a:ln w="9525">
            <a:solidFill>
              <a:srgbClr val="388B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011680" y="6373368"/>
            <a:ext cx="320040" cy="365760"/>
          </a:xfrm>
          <a:prstGeom prst="rect">
            <a:avLst/>
          </a:prstGeom>
          <a:noFill/>
        </p:spPr>
        <p:txBody>
          <a:bodyPr wrap="square">
            <a:spAutoFit/>
          </a:bodyPr>
          <a:lstStyle/>
          <a:p>
            <a:pPr algn="l">
              <a:defRPr sz="1000" b="1" i="0">
                <a:solidFill>
                  <a:srgbClr val="388BFD"/>
                </a:solidFill>
                <a:latin typeface="Calibri"/>
              </a:defRPr>
            </a:pPr>
            <a:r>
              <a:t>W2</a:t>
            </a:r>
          </a:p>
        </p:txBody>
      </p:sp>
      <p:sp>
        <p:nvSpPr>
          <p:cNvPr id="64" name="TextBox 63"/>
          <p:cNvSpPr txBox="1"/>
          <p:nvPr/>
        </p:nvSpPr>
        <p:spPr>
          <a:xfrm>
            <a:off x="2331720" y="6373368"/>
            <a:ext cx="868680" cy="365760"/>
          </a:xfrm>
          <a:prstGeom prst="rect">
            <a:avLst/>
          </a:prstGeom>
          <a:noFill/>
        </p:spPr>
        <p:txBody>
          <a:bodyPr wrap="square">
            <a:spAutoFit/>
          </a:bodyPr>
          <a:lstStyle/>
          <a:p>
            <a:pPr algn="l">
              <a:defRPr sz="700" b="0" i="0">
                <a:solidFill>
                  <a:srgbClr val="B0BCCE"/>
                </a:solidFill>
                <a:latin typeface="Calibri"/>
              </a:defRPr>
            </a:pPr>
            <a:r>
              <a:t>Dataset +</a:t>
            </a:r>
            <a:br/>
            <a:r>
              <a:t>Pipeline</a:t>
            </a:r>
          </a:p>
        </p:txBody>
      </p:sp>
      <p:sp>
        <p:nvSpPr>
          <p:cNvPr id="65" name="TextBox 64"/>
          <p:cNvSpPr txBox="1"/>
          <p:nvPr/>
        </p:nvSpPr>
        <p:spPr>
          <a:xfrm>
            <a:off x="3264408" y="6400800"/>
            <a:ext cx="182880" cy="365760"/>
          </a:xfrm>
          <a:prstGeom prst="rect">
            <a:avLst/>
          </a:prstGeom>
          <a:noFill/>
        </p:spPr>
        <p:txBody>
          <a:bodyPr wrap="square">
            <a:spAutoFit/>
          </a:bodyPr>
          <a:lstStyle/>
          <a:p>
            <a:pPr algn="l">
              <a:defRPr sz="1600" b="1" i="0">
                <a:solidFill>
                  <a:srgbClr val="6B7B93"/>
                </a:solidFill>
                <a:latin typeface="Calibri"/>
              </a:defRPr>
            </a:pPr>
            <a:r>
              <a:t>→</a:t>
            </a:r>
          </a:p>
        </p:txBody>
      </p:sp>
      <p:sp>
        <p:nvSpPr>
          <p:cNvPr id="66" name="Rounded Rectangle 65"/>
          <p:cNvSpPr/>
          <p:nvPr/>
        </p:nvSpPr>
        <p:spPr>
          <a:xfrm>
            <a:off x="3474720" y="6400800"/>
            <a:ext cx="1280160" cy="365760"/>
          </a:xfrm>
          <a:prstGeom prst="roundRect">
            <a:avLst/>
          </a:prstGeom>
          <a:solidFill>
            <a:srgbClr val="121725"/>
          </a:solidFill>
          <a:ln w="9525">
            <a:solidFill>
              <a:srgbClr val="FFB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520440" y="6373368"/>
            <a:ext cx="320040" cy="365760"/>
          </a:xfrm>
          <a:prstGeom prst="rect">
            <a:avLst/>
          </a:prstGeom>
          <a:noFill/>
        </p:spPr>
        <p:txBody>
          <a:bodyPr wrap="square">
            <a:spAutoFit/>
          </a:bodyPr>
          <a:lstStyle/>
          <a:p>
            <a:pPr algn="l">
              <a:defRPr sz="1000" b="1" i="0">
                <a:solidFill>
                  <a:srgbClr val="FFB800"/>
                </a:solidFill>
                <a:latin typeface="Calibri"/>
              </a:defRPr>
            </a:pPr>
            <a:r>
              <a:t>W3</a:t>
            </a:r>
          </a:p>
        </p:txBody>
      </p:sp>
      <p:sp>
        <p:nvSpPr>
          <p:cNvPr id="68" name="TextBox 67"/>
          <p:cNvSpPr txBox="1"/>
          <p:nvPr/>
        </p:nvSpPr>
        <p:spPr>
          <a:xfrm>
            <a:off x="3840480" y="6373368"/>
            <a:ext cx="868680" cy="365760"/>
          </a:xfrm>
          <a:prstGeom prst="rect">
            <a:avLst/>
          </a:prstGeom>
          <a:noFill/>
        </p:spPr>
        <p:txBody>
          <a:bodyPr wrap="square">
            <a:spAutoFit/>
          </a:bodyPr>
          <a:lstStyle/>
          <a:p>
            <a:pPr algn="l">
              <a:defRPr sz="700" b="0" i="0">
                <a:solidFill>
                  <a:srgbClr val="B0BCCE"/>
                </a:solidFill>
                <a:latin typeface="Calibri"/>
              </a:defRPr>
            </a:pPr>
            <a:r>
              <a:t>Model +</a:t>
            </a:r>
            <a:br/>
            <a:r>
              <a:t>Geometry</a:t>
            </a:r>
          </a:p>
        </p:txBody>
      </p:sp>
      <p:sp>
        <p:nvSpPr>
          <p:cNvPr id="69" name="TextBox 68"/>
          <p:cNvSpPr txBox="1"/>
          <p:nvPr/>
        </p:nvSpPr>
        <p:spPr>
          <a:xfrm>
            <a:off x="4773168" y="6400800"/>
            <a:ext cx="182880" cy="365760"/>
          </a:xfrm>
          <a:prstGeom prst="rect">
            <a:avLst/>
          </a:prstGeom>
          <a:noFill/>
        </p:spPr>
        <p:txBody>
          <a:bodyPr wrap="square">
            <a:spAutoFit/>
          </a:bodyPr>
          <a:lstStyle/>
          <a:p>
            <a:pPr algn="l">
              <a:defRPr sz="1600" b="1" i="0">
                <a:solidFill>
                  <a:srgbClr val="6B7B93"/>
                </a:solidFill>
                <a:latin typeface="Calibri"/>
              </a:defRPr>
            </a:pPr>
            <a:r>
              <a:t>→</a:t>
            </a:r>
          </a:p>
        </p:txBody>
      </p:sp>
      <p:sp>
        <p:nvSpPr>
          <p:cNvPr id="70" name="Rounded Rectangle 69"/>
          <p:cNvSpPr/>
          <p:nvPr/>
        </p:nvSpPr>
        <p:spPr>
          <a:xfrm>
            <a:off x="4983479" y="6400800"/>
            <a:ext cx="1280160" cy="365760"/>
          </a:xfrm>
          <a:prstGeom prst="roundRect">
            <a:avLst/>
          </a:prstGeom>
          <a:solidFill>
            <a:srgbClr val="121725"/>
          </a:solidFill>
          <a:ln w="9525">
            <a:solidFill>
              <a:srgbClr val="00E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199" y="6373368"/>
            <a:ext cx="320040" cy="365760"/>
          </a:xfrm>
          <a:prstGeom prst="rect">
            <a:avLst/>
          </a:prstGeom>
          <a:noFill/>
        </p:spPr>
        <p:txBody>
          <a:bodyPr wrap="square">
            <a:spAutoFit/>
          </a:bodyPr>
          <a:lstStyle/>
          <a:p>
            <a:pPr algn="l">
              <a:defRPr sz="1000" b="1" i="0">
                <a:solidFill>
                  <a:srgbClr val="00E576"/>
                </a:solidFill>
                <a:latin typeface="Calibri"/>
              </a:defRPr>
            </a:pPr>
            <a:r>
              <a:t>W4</a:t>
            </a:r>
          </a:p>
        </p:txBody>
      </p:sp>
      <p:sp>
        <p:nvSpPr>
          <p:cNvPr id="72" name="TextBox 71"/>
          <p:cNvSpPr txBox="1"/>
          <p:nvPr/>
        </p:nvSpPr>
        <p:spPr>
          <a:xfrm>
            <a:off x="5349239" y="6373368"/>
            <a:ext cx="868680" cy="365760"/>
          </a:xfrm>
          <a:prstGeom prst="rect">
            <a:avLst/>
          </a:prstGeom>
          <a:noFill/>
        </p:spPr>
        <p:txBody>
          <a:bodyPr wrap="square">
            <a:spAutoFit/>
          </a:bodyPr>
          <a:lstStyle/>
          <a:p>
            <a:pPr algn="l">
              <a:defRPr sz="700" b="0" i="0">
                <a:solidFill>
                  <a:srgbClr val="B0BCCE"/>
                </a:solidFill>
                <a:latin typeface="Calibri"/>
              </a:defRPr>
            </a:pPr>
            <a:r>
              <a:t>Eval +</a:t>
            </a:r>
            <a:br/>
            <a:r>
              <a:t>Demo</a:t>
            </a:r>
          </a:p>
        </p:txBody>
      </p:sp>
      <p:sp>
        <p:nvSpPr>
          <p:cNvPr id="73" name="TextBox 72"/>
          <p:cNvSpPr txBox="1"/>
          <p:nvPr/>
        </p:nvSpPr>
        <p:spPr>
          <a:xfrm>
            <a:off x="6675120" y="6446520"/>
            <a:ext cx="5029200" cy="320040"/>
          </a:xfrm>
          <a:prstGeom prst="rect">
            <a:avLst/>
          </a:prstGeom>
          <a:noFill/>
        </p:spPr>
        <p:txBody>
          <a:bodyPr wrap="square">
            <a:spAutoFit/>
          </a:bodyPr>
          <a:lstStyle/>
          <a:p>
            <a:pPr algn="r">
              <a:defRPr sz="900" b="0" i="1">
                <a:solidFill>
                  <a:srgbClr val="6B7B93"/>
                </a:solidFill>
                <a:latin typeface="Calibri"/>
              </a:defRPr>
            </a:pPr>
            <a:r>
              <a:t>ALL HYPOTHESES &amp; TARGETS — NOT CLAIMED 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7"/>
        </a:solidFill>
        <a:effectLst/>
      </p:bgPr>
    </p:bg>
    <p:spTree>
      <p:nvGrpSpPr>
        <p:cNvPr id="1" name=""/>
        <p:cNvGrpSpPr/>
        <p:nvPr/>
      </p:nvGrpSpPr>
      <p:grpSpPr/>
      <p:sp>
        <p:nvSpPr>
          <p:cNvPr id="2" name="Rectangle 1"/>
          <p:cNvSpPr/>
          <p:nvPr/>
        </p:nvSpPr>
        <p:spPr>
          <a:xfrm>
            <a:off x="0" y="0"/>
            <a:ext cx="12191695" cy="36576"/>
          </a:xfrm>
          <a:prstGeom prst="rect">
            <a:avLst/>
          </a:prstGeom>
          <a:solidFill>
            <a:srgbClr val="00E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5486400" cy="457200"/>
          </a:xfrm>
          <a:prstGeom prst="rect">
            <a:avLst/>
          </a:prstGeom>
          <a:noFill/>
        </p:spPr>
        <p:txBody>
          <a:bodyPr wrap="square">
            <a:spAutoFit/>
          </a:bodyPr>
          <a:lstStyle/>
          <a:p>
            <a:pPr algn="l">
              <a:defRPr sz="2600" b="1" i="0">
                <a:solidFill>
                  <a:srgbClr val="FFFFFF"/>
                </a:solidFill>
                <a:latin typeface="Calibri"/>
              </a:defRPr>
            </a:pPr>
            <a:r>
              <a:t>TARGET DEMONSTRATION</a:t>
            </a:r>
          </a:p>
        </p:txBody>
      </p:sp>
      <p:sp>
        <p:nvSpPr>
          <p:cNvPr id="4" name="TextBox 3"/>
          <p:cNvSpPr txBox="1"/>
          <p:nvPr/>
        </p:nvSpPr>
        <p:spPr>
          <a:xfrm>
            <a:off x="5943600" y="201168"/>
            <a:ext cx="4572000" cy="320040"/>
          </a:xfrm>
          <a:prstGeom prst="rect">
            <a:avLst/>
          </a:prstGeom>
          <a:noFill/>
        </p:spPr>
        <p:txBody>
          <a:bodyPr wrap="square">
            <a:spAutoFit/>
          </a:bodyPr>
          <a:lstStyle/>
          <a:p>
            <a:pPr algn="l">
              <a:defRPr sz="1100" b="0" i="1">
                <a:solidFill>
                  <a:srgbClr val="6B7B93"/>
                </a:solidFill>
                <a:latin typeface="Calibri"/>
              </a:defRPr>
            </a:pPr>
            <a:r>
              <a:t>The vision  •  Expected contributions  •  Feasibility</a:t>
            </a:r>
          </a:p>
        </p:txBody>
      </p:sp>
      <p:pic>
        <p:nvPicPr>
          <p:cNvPr id="5" name="Picture 4" descr="slide5_demonstration_1787818189840.png"/>
          <p:cNvPicPr>
            <a:picLocks noChangeAspect="1"/>
          </p:cNvPicPr>
          <p:nvPr/>
        </p:nvPicPr>
        <p:blipFill>
          <a:blip r:embed="rId2"/>
          <a:stretch>
            <a:fillRect/>
          </a:stretch>
        </p:blipFill>
        <p:spPr>
          <a:xfrm>
            <a:off x="182880" y="548640"/>
            <a:ext cx="5943600" cy="4480560"/>
          </a:xfrm>
          <a:prstGeom prst="rect">
            <a:avLst/>
          </a:prstGeom>
        </p:spPr>
      </p:pic>
      <p:sp>
        <p:nvSpPr>
          <p:cNvPr id="6" name="TextBox 5"/>
          <p:cNvSpPr txBox="1"/>
          <p:nvPr/>
        </p:nvSpPr>
        <p:spPr>
          <a:xfrm>
            <a:off x="6400800" y="640080"/>
            <a:ext cx="5486400" cy="274320"/>
          </a:xfrm>
          <a:prstGeom prst="rect">
            <a:avLst/>
          </a:prstGeom>
          <a:noFill/>
        </p:spPr>
        <p:txBody>
          <a:bodyPr wrap="square">
            <a:spAutoFit/>
          </a:bodyPr>
          <a:lstStyle/>
          <a:p>
            <a:pPr algn="l">
              <a:defRPr sz="1400" b="1" i="0">
                <a:solidFill>
                  <a:srgbClr val="00E5CC"/>
                </a:solidFill>
                <a:latin typeface="Calibri"/>
              </a:defRPr>
            </a:pPr>
            <a:r>
              <a:t>PROPOSED CONTRIBUTION</a:t>
            </a:r>
          </a:p>
        </p:txBody>
      </p:sp>
      <p:sp>
        <p:nvSpPr>
          <p:cNvPr id="7" name="Rounded Rectangle 6"/>
          <p:cNvSpPr/>
          <p:nvPr/>
        </p:nvSpPr>
        <p:spPr>
          <a:xfrm>
            <a:off x="6400800" y="960120"/>
            <a:ext cx="5394960" cy="960120"/>
          </a:xfrm>
          <a:prstGeom prst="roundRect">
            <a:avLst/>
          </a:prstGeom>
          <a:solidFill>
            <a:srgbClr val="0D1B2A"/>
          </a:solidFill>
          <a:ln w="9525">
            <a:solidFill>
              <a:srgbClr val="0099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005840"/>
            <a:ext cx="5029200" cy="868680"/>
          </a:xfrm>
          <a:prstGeom prst="rect">
            <a:avLst/>
          </a:prstGeom>
          <a:noFill/>
        </p:spPr>
        <p:txBody>
          <a:bodyPr wrap="square">
            <a:spAutoFit/>
          </a:bodyPr>
          <a:lstStyle/>
          <a:p>
            <a:pPr algn="l">
              <a:defRPr sz="1200" b="1" i="0">
                <a:solidFill>
                  <a:srgbClr val="FFFFFF"/>
                </a:solidFill>
                <a:latin typeface="Calibri"/>
              </a:defRPr>
            </a:pPr>
            <a:r>
              <a:t>A lightweight, geometry-aware, and low-calibration</a:t>
            </a:r>
          </a:p>
          <a:p>
            <a:pPr algn="l">
              <a:defRPr sz="1200" b="1" i="0">
                <a:solidFill>
                  <a:srgbClr val="FFFFFF"/>
                </a:solidFill>
                <a:latin typeface="Calibri"/>
              </a:defRPr>
            </a:pPr>
            <a:r>
              <a:t>CSI framework for continuous 2D pointing, investigating</a:t>
            </a:r>
          </a:p>
          <a:p>
            <a:pPr algn="l">
              <a:defRPr sz="1200" b="1" i="0">
                <a:solidFill>
                  <a:srgbClr val="FFFFFF"/>
                </a:solidFill>
                <a:latin typeface="Calibri"/>
              </a:defRPr>
            </a:pPr>
            <a:r>
              <a:t>how wireless propagation geometry affects practical</a:t>
            </a:r>
          </a:p>
          <a:p>
            <a:pPr algn="l">
              <a:defRPr sz="1200" b="1" i="0">
                <a:solidFill>
                  <a:srgbClr val="00E5CC"/>
                </a:solidFill>
                <a:latin typeface="Calibri"/>
              </a:defRPr>
            </a:pPr>
            <a:r>
              <a:t>HCI performance.</a:t>
            </a:r>
          </a:p>
        </p:txBody>
      </p:sp>
      <p:sp>
        <p:nvSpPr>
          <p:cNvPr id="9" name="TextBox 8"/>
          <p:cNvSpPr txBox="1"/>
          <p:nvPr/>
        </p:nvSpPr>
        <p:spPr>
          <a:xfrm>
            <a:off x="6400800" y="2103120"/>
            <a:ext cx="2743200" cy="274320"/>
          </a:xfrm>
          <a:prstGeom prst="rect">
            <a:avLst/>
          </a:prstGeom>
          <a:noFill/>
        </p:spPr>
        <p:txBody>
          <a:bodyPr wrap="square">
            <a:spAutoFit/>
          </a:bodyPr>
          <a:lstStyle/>
          <a:p>
            <a:pPr algn="l">
              <a:defRPr sz="1200" b="1" i="0">
                <a:solidFill>
                  <a:srgbClr val="FFFFFF"/>
                </a:solidFill>
                <a:latin typeface="Calibri"/>
              </a:defRPr>
            </a:pPr>
            <a:r>
              <a:t>CORE  +  OPTIONAL EXTENSIONS</a:t>
            </a:r>
          </a:p>
        </p:txBody>
      </p:sp>
      <p:sp>
        <p:nvSpPr>
          <p:cNvPr id="10" name="TextBox 9"/>
          <p:cNvSpPr txBox="1"/>
          <p:nvPr/>
        </p:nvSpPr>
        <p:spPr>
          <a:xfrm>
            <a:off x="6583680" y="2423160"/>
            <a:ext cx="1371600" cy="274320"/>
          </a:xfrm>
          <a:prstGeom prst="rect">
            <a:avLst/>
          </a:prstGeom>
          <a:noFill/>
        </p:spPr>
        <p:txBody>
          <a:bodyPr wrap="square">
            <a:spAutoFit/>
          </a:bodyPr>
          <a:lstStyle/>
          <a:p>
            <a:pPr algn="l">
              <a:defRPr sz="1100" b="1" i="0">
                <a:solidFill>
                  <a:srgbClr val="00E5CC"/>
                </a:solidFill>
                <a:latin typeface="Calibri"/>
              </a:defRPr>
            </a:pPr>
            <a:r>
              <a:t>HAND MOVE</a:t>
            </a:r>
          </a:p>
        </p:txBody>
      </p:sp>
      <p:sp>
        <p:nvSpPr>
          <p:cNvPr id="11" name="TextBox 10"/>
          <p:cNvSpPr txBox="1"/>
          <p:nvPr/>
        </p:nvSpPr>
        <p:spPr>
          <a:xfrm>
            <a:off x="7955279" y="2423160"/>
            <a:ext cx="2286000" cy="274320"/>
          </a:xfrm>
          <a:prstGeom prst="rect">
            <a:avLst/>
          </a:prstGeom>
          <a:noFill/>
        </p:spPr>
        <p:txBody>
          <a:bodyPr wrap="square">
            <a:spAutoFit/>
          </a:bodyPr>
          <a:lstStyle/>
          <a:p>
            <a:pPr algn="l">
              <a:defRPr sz="1100" b="0" i="0">
                <a:solidFill>
                  <a:srgbClr val="B0BCCE"/>
                </a:solidFill>
                <a:latin typeface="Calibri"/>
              </a:defRPr>
            </a:pPr>
            <a:r>
              <a:t>→  Δx/Δy  →  CURSOR</a:t>
            </a:r>
          </a:p>
        </p:txBody>
      </p:sp>
      <p:sp>
        <p:nvSpPr>
          <p:cNvPr id="12" name="TextBox 11"/>
          <p:cNvSpPr txBox="1"/>
          <p:nvPr/>
        </p:nvSpPr>
        <p:spPr>
          <a:xfrm>
            <a:off x="10332720" y="2423160"/>
            <a:ext cx="1371600" cy="274320"/>
          </a:xfrm>
          <a:prstGeom prst="rect">
            <a:avLst/>
          </a:prstGeom>
          <a:noFill/>
        </p:spPr>
        <p:txBody>
          <a:bodyPr wrap="square">
            <a:spAutoFit/>
          </a:bodyPr>
          <a:lstStyle/>
          <a:p>
            <a:pPr algn="l">
              <a:defRPr sz="900" b="0" i="1">
                <a:solidFill>
                  <a:srgbClr val="6B7B93"/>
                </a:solidFill>
                <a:latin typeface="Calibri"/>
              </a:defRPr>
            </a:pPr>
            <a:r>
              <a:t>Core</a:t>
            </a:r>
          </a:p>
        </p:txBody>
      </p:sp>
      <p:sp>
        <p:nvSpPr>
          <p:cNvPr id="13" name="TextBox 12"/>
          <p:cNvSpPr txBox="1"/>
          <p:nvPr/>
        </p:nvSpPr>
        <p:spPr>
          <a:xfrm>
            <a:off x="6583680" y="2770632"/>
            <a:ext cx="1371600" cy="274320"/>
          </a:xfrm>
          <a:prstGeom prst="rect">
            <a:avLst/>
          </a:prstGeom>
          <a:noFill/>
        </p:spPr>
        <p:txBody>
          <a:bodyPr wrap="square">
            <a:spAutoFit/>
          </a:bodyPr>
          <a:lstStyle/>
          <a:p>
            <a:pPr algn="l">
              <a:defRPr sz="1100" b="1" i="0">
                <a:solidFill>
                  <a:srgbClr val="FFB800"/>
                </a:solidFill>
                <a:latin typeface="Calibri"/>
              </a:defRPr>
            </a:pPr>
            <a:r>
              <a:t>PINCH</a:t>
            </a:r>
          </a:p>
        </p:txBody>
      </p:sp>
      <p:sp>
        <p:nvSpPr>
          <p:cNvPr id="14" name="TextBox 13"/>
          <p:cNvSpPr txBox="1"/>
          <p:nvPr/>
        </p:nvSpPr>
        <p:spPr>
          <a:xfrm>
            <a:off x="7955279" y="2770632"/>
            <a:ext cx="2286000" cy="274320"/>
          </a:xfrm>
          <a:prstGeom prst="rect">
            <a:avLst/>
          </a:prstGeom>
          <a:noFill/>
        </p:spPr>
        <p:txBody>
          <a:bodyPr wrap="square">
            <a:spAutoFit/>
          </a:bodyPr>
          <a:lstStyle/>
          <a:p>
            <a:pPr algn="l">
              <a:defRPr sz="1100" b="0" i="0">
                <a:solidFill>
                  <a:srgbClr val="B0BCCE"/>
                </a:solidFill>
                <a:latin typeface="Calibri"/>
              </a:defRPr>
            </a:pPr>
            <a:r>
              <a:t>→  CLICK</a:t>
            </a:r>
          </a:p>
        </p:txBody>
      </p:sp>
      <p:sp>
        <p:nvSpPr>
          <p:cNvPr id="15" name="TextBox 14"/>
          <p:cNvSpPr txBox="1"/>
          <p:nvPr/>
        </p:nvSpPr>
        <p:spPr>
          <a:xfrm>
            <a:off x="10332720" y="2770632"/>
            <a:ext cx="1371600" cy="274320"/>
          </a:xfrm>
          <a:prstGeom prst="rect">
            <a:avLst/>
          </a:prstGeom>
          <a:noFill/>
        </p:spPr>
        <p:txBody>
          <a:bodyPr wrap="square">
            <a:spAutoFit/>
          </a:bodyPr>
          <a:lstStyle/>
          <a:p>
            <a:pPr algn="l">
              <a:defRPr sz="900" b="0" i="1">
                <a:solidFill>
                  <a:srgbClr val="6B7B93"/>
                </a:solidFill>
                <a:latin typeface="Calibri"/>
              </a:defRPr>
            </a:pPr>
            <a:r>
              <a:t>Optional</a:t>
            </a:r>
          </a:p>
        </p:txBody>
      </p:sp>
      <p:sp>
        <p:nvSpPr>
          <p:cNvPr id="16" name="TextBox 15"/>
          <p:cNvSpPr txBox="1"/>
          <p:nvPr/>
        </p:nvSpPr>
        <p:spPr>
          <a:xfrm>
            <a:off x="6583680" y="3118104"/>
            <a:ext cx="1371600" cy="274320"/>
          </a:xfrm>
          <a:prstGeom prst="rect">
            <a:avLst/>
          </a:prstGeom>
          <a:noFill/>
        </p:spPr>
        <p:txBody>
          <a:bodyPr wrap="square">
            <a:spAutoFit/>
          </a:bodyPr>
          <a:lstStyle/>
          <a:p>
            <a:pPr algn="l">
              <a:defRPr sz="1100" b="1" i="0">
                <a:solidFill>
                  <a:srgbClr val="FFB800"/>
                </a:solidFill>
                <a:latin typeface="Calibri"/>
              </a:defRPr>
            </a:pPr>
            <a:r>
              <a:t>HOLD</a:t>
            </a:r>
          </a:p>
        </p:txBody>
      </p:sp>
      <p:sp>
        <p:nvSpPr>
          <p:cNvPr id="17" name="TextBox 16"/>
          <p:cNvSpPr txBox="1"/>
          <p:nvPr/>
        </p:nvSpPr>
        <p:spPr>
          <a:xfrm>
            <a:off x="7955279" y="3118104"/>
            <a:ext cx="2286000" cy="274320"/>
          </a:xfrm>
          <a:prstGeom prst="rect">
            <a:avLst/>
          </a:prstGeom>
          <a:noFill/>
        </p:spPr>
        <p:txBody>
          <a:bodyPr wrap="square">
            <a:spAutoFit/>
          </a:bodyPr>
          <a:lstStyle/>
          <a:p>
            <a:pPr algn="l">
              <a:defRPr sz="1100" b="0" i="0">
                <a:solidFill>
                  <a:srgbClr val="B0BCCE"/>
                </a:solidFill>
                <a:latin typeface="Calibri"/>
              </a:defRPr>
            </a:pPr>
            <a:r>
              <a:t>→  DRAG</a:t>
            </a:r>
          </a:p>
        </p:txBody>
      </p:sp>
      <p:sp>
        <p:nvSpPr>
          <p:cNvPr id="18" name="TextBox 17"/>
          <p:cNvSpPr txBox="1"/>
          <p:nvPr/>
        </p:nvSpPr>
        <p:spPr>
          <a:xfrm>
            <a:off x="10332720" y="3118104"/>
            <a:ext cx="1371600" cy="274320"/>
          </a:xfrm>
          <a:prstGeom prst="rect">
            <a:avLst/>
          </a:prstGeom>
          <a:noFill/>
        </p:spPr>
        <p:txBody>
          <a:bodyPr wrap="square">
            <a:spAutoFit/>
          </a:bodyPr>
          <a:lstStyle/>
          <a:p>
            <a:pPr algn="l">
              <a:defRPr sz="900" b="0" i="1">
                <a:solidFill>
                  <a:srgbClr val="6B7B93"/>
                </a:solidFill>
                <a:latin typeface="Calibri"/>
              </a:defRPr>
            </a:pPr>
            <a:r>
              <a:t>Optional</a:t>
            </a:r>
          </a:p>
        </p:txBody>
      </p:sp>
      <p:sp>
        <p:nvSpPr>
          <p:cNvPr id="19" name="TextBox 18"/>
          <p:cNvSpPr txBox="1"/>
          <p:nvPr/>
        </p:nvSpPr>
        <p:spPr>
          <a:xfrm>
            <a:off x="6583680" y="3465576"/>
            <a:ext cx="1371600" cy="274320"/>
          </a:xfrm>
          <a:prstGeom prst="rect">
            <a:avLst/>
          </a:prstGeom>
          <a:noFill/>
        </p:spPr>
        <p:txBody>
          <a:bodyPr wrap="square">
            <a:spAutoFit/>
          </a:bodyPr>
          <a:lstStyle/>
          <a:p>
            <a:pPr algn="l">
              <a:defRPr sz="1100" b="1" i="0">
                <a:solidFill>
                  <a:srgbClr val="FFB800"/>
                </a:solidFill>
                <a:latin typeface="Calibri"/>
              </a:defRPr>
            </a:pPr>
            <a:r>
              <a:t>SWIPE</a:t>
            </a:r>
          </a:p>
        </p:txBody>
      </p:sp>
      <p:sp>
        <p:nvSpPr>
          <p:cNvPr id="20" name="TextBox 19"/>
          <p:cNvSpPr txBox="1"/>
          <p:nvPr/>
        </p:nvSpPr>
        <p:spPr>
          <a:xfrm>
            <a:off x="7955279" y="3465576"/>
            <a:ext cx="2286000" cy="274320"/>
          </a:xfrm>
          <a:prstGeom prst="rect">
            <a:avLst/>
          </a:prstGeom>
          <a:noFill/>
        </p:spPr>
        <p:txBody>
          <a:bodyPr wrap="square">
            <a:spAutoFit/>
          </a:bodyPr>
          <a:lstStyle/>
          <a:p>
            <a:pPr algn="l">
              <a:defRPr sz="1100" b="0" i="0">
                <a:solidFill>
                  <a:srgbClr val="B0BCCE"/>
                </a:solidFill>
                <a:latin typeface="Calibri"/>
              </a:defRPr>
            </a:pPr>
            <a:r>
              <a:t>→  SCROLL</a:t>
            </a:r>
          </a:p>
        </p:txBody>
      </p:sp>
      <p:sp>
        <p:nvSpPr>
          <p:cNvPr id="21" name="TextBox 20"/>
          <p:cNvSpPr txBox="1"/>
          <p:nvPr/>
        </p:nvSpPr>
        <p:spPr>
          <a:xfrm>
            <a:off x="10332720" y="3465576"/>
            <a:ext cx="1371600" cy="274320"/>
          </a:xfrm>
          <a:prstGeom prst="rect">
            <a:avLst/>
          </a:prstGeom>
          <a:noFill/>
        </p:spPr>
        <p:txBody>
          <a:bodyPr wrap="square">
            <a:spAutoFit/>
          </a:bodyPr>
          <a:lstStyle/>
          <a:p>
            <a:pPr algn="l">
              <a:defRPr sz="900" b="0" i="1">
                <a:solidFill>
                  <a:srgbClr val="6B7B93"/>
                </a:solidFill>
                <a:latin typeface="Calibri"/>
              </a:defRPr>
            </a:pPr>
            <a:r>
              <a:t>Optional</a:t>
            </a:r>
          </a:p>
        </p:txBody>
      </p:sp>
      <p:sp>
        <p:nvSpPr>
          <p:cNvPr id="22" name="TextBox 21"/>
          <p:cNvSpPr txBox="1"/>
          <p:nvPr/>
        </p:nvSpPr>
        <p:spPr>
          <a:xfrm>
            <a:off x="6400800" y="3886200"/>
            <a:ext cx="2743200" cy="274320"/>
          </a:xfrm>
          <a:prstGeom prst="rect">
            <a:avLst/>
          </a:prstGeom>
          <a:noFill/>
        </p:spPr>
        <p:txBody>
          <a:bodyPr wrap="square">
            <a:spAutoFit/>
          </a:bodyPr>
          <a:lstStyle/>
          <a:p>
            <a:pPr algn="l">
              <a:defRPr sz="1200" b="1" i="0">
                <a:solidFill>
                  <a:srgbClr val="FFFFFF"/>
                </a:solidFill>
                <a:latin typeface="Calibri"/>
              </a:defRPr>
            </a:pPr>
            <a:r>
              <a:t>HARDWARE REQUIREMENT</a:t>
            </a:r>
          </a:p>
        </p:txBody>
      </p:sp>
      <p:sp>
        <p:nvSpPr>
          <p:cNvPr id="23" name="Rounded Rectangle 22"/>
          <p:cNvSpPr/>
          <p:nvPr/>
        </p:nvSpPr>
        <p:spPr>
          <a:xfrm>
            <a:off x="6400800" y="4160520"/>
            <a:ext cx="5394960" cy="457200"/>
          </a:xfrm>
          <a:prstGeom prst="roundRect">
            <a:avLst/>
          </a:prstGeom>
          <a:solidFill>
            <a:srgbClr val="121725"/>
          </a:solidFill>
          <a:ln w="9525">
            <a:solidFill>
              <a:srgbClr val="00E5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187952"/>
            <a:ext cx="5029200" cy="411480"/>
          </a:xfrm>
          <a:prstGeom prst="rect">
            <a:avLst/>
          </a:prstGeom>
          <a:noFill/>
        </p:spPr>
        <p:txBody>
          <a:bodyPr wrap="square">
            <a:spAutoFit/>
          </a:bodyPr>
          <a:lstStyle/>
          <a:p>
            <a:pPr algn="l">
              <a:defRPr sz="1300" b="1" i="0">
                <a:solidFill>
                  <a:srgbClr val="00E576"/>
                </a:solidFill>
                <a:latin typeface="Calibri"/>
              </a:defRPr>
            </a:pPr>
            <a:r>
              <a:t>2 × ESP32  ≈ $10   +   Existing Wi-Fi Router   +   Existing Laptop</a:t>
            </a:r>
          </a:p>
        </p:txBody>
      </p:sp>
      <p:sp>
        <p:nvSpPr>
          <p:cNvPr id="25" name="TextBox 24"/>
          <p:cNvSpPr txBox="1"/>
          <p:nvPr/>
        </p:nvSpPr>
        <p:spPr>
          <a:xfrm>
            <a:off x="6400800" y="4800600"/>
            <a:ext cx="2743200" cy="274320"/>
          </a:xfrm>
          <a:prstGeom prst="rect">
            <a:avLst/>
          </a:prstGeom>
          <a:noFill/>
        </p:spPr>
        <p:txBody>
          <a:bodyPr wrap="square">
            <a:spAutoFit/>
          </a:bodyPr>
          <a:lstStyle/>
          <a:p>
            <a:pPr algn="l">
              <a:defRPr sz="1200" b="1" i="0">
                <a:solidFill>
                  <a:srgbClr val="FFFFFF"/>
                </a:solidFill>
                <a:latin typeface="Calibri"/>
              </a:defRPr>
            </a:pPr>
            <a:r>
              <a:t>RISKS &amp; FALLBACKS</a:t>
            </a:r>
          </a:p>
        </p:txBody>
      </p:sp>
      <p:sp>
        <p:nvSpPr>
          <p:cNvPr id="26" name="TextBox 25"/>
          <p:cNvSpPr txBox="1"/>
          <p:nvPr/>
        </p:nvSpPr>
        <p:spPr>
          <a:xfrm>
            <a:off x="6583680" y="5074920"/>
            <a:ext cx="1463040" cy="256032"/>
          </a:xfrm>
          <a:prstGeom prst="rect">
            <a:avLst/>
          </a:prstGeom>
          <a:noFill/>
        </p:spPr>
        <p:txBody>
          <a:bodyPr wrap="square">
            <a:spAutoFit/>
          </a:bodyPr>
          <a:lstStyle/>
          <a:p>
            <a:pPr algn="l">
              <a:defRPr sz="900" b="0" i="0">
                <a:solidFill>
                  <a:srgbClr val="FF4D6A"/>
                </a:solidFill>
                <a:latin typeface="Calibri"/>
              </a:defRPr>
            </a:pPr>
            <a:r>
              <a:t>⚠  Noisy CSI</a:t>
            </a:r>
          </a:p>
        </p:txBody>
      </p:sp>
      <p:sp>
        <p:nvSpPr>
          <p:cNvPr id="27" name="TextBox 26"/>
          <p:cNvSpPr txBox="1"/>
          <p:nvPr/>
        </p:nvSpPr>
        <p:spPr>
          <a:xfrm>
            <a:off x="8229600" y="5074920"/>
            <a:ext cx="3474720" cy="256032"/>
          </a:xfrm>
          <a:prstGeom prst="rect">
            <a:avLst/>
          </a:prstGeom>
          <a:noFill/>
        </p:spPr>
        <p:txBody>
          <a:bodyPr wrap="square">
            <a:spAutoFit/>
          </a:bodyPr>
          <a:lstStyle/>
          <a:p>
            <a:pPr algn="l">
              <a:defRPr sz="900" b="0" i="0">
                <a:solidFill>
                  <a:srgbClr val="B0BCCE"/>
                </a:solidFill>
                <a:latin typeface="Calibri"/>
              </a:defRPr>
            </a:pPr>
            <a:r>
              <a:t>→  Aggressive filtering + subcarrier selection</a:t>
            </a:r>
          </a:p>
        </p:txBody>
      </p:sp>
      <p:sp>
        <p:nvSpPr>
          <p:cNvPr id="28" name="TextBox 27"/>
          <p:cNvSpPr txBox="1"/>
          <p:nvPr/>
        </p:nvSpPr>
        <p:spPr>
          <a:xfrm>
            <a:off x="6583680" y="5376672"/>
            <a:ext cx="1463040" cy="256032"/>
          </a:xfrm>
          <a:prstGeom prst="rect">
            <a:avLst/>
          </a:prstGeom>
          <a:noFill/>
        </p:spPr>
        <p:txBody>
          <a:bodyPr wrap="square">
            <a:spAutoFit/>
          </a:bodyPr>
          <a:lstStyle/>
          <a:p>
            <a:pPr algn="l">
              <a:defRPr sz="900" b="0" i="0">
                <a:solidFill>
                  <a:srgbClr val="FF4D6A"/>
                </a:solidFill>
                <a:latin typeface="Calibri"/>
              </a:defRPr>
            </a:pPr>
            <a:r>
              <a:t>⚠  Unstable regression</a:t>
            </a:r>
          </a:p>
        </p:txBody>
      </p:sp>
      <p:sp>
        <p:nvSpPr>
          <p:cNvPr id="29" name="TextBox 28"/>
          <p:cNvSpPr txBox="1"/>
          <p:nvPr/>
        </p:nvSpPr>
        <p:spPr>
          <a:xfrm>
            <a:off x="8229600" y="5376672"/>
            <a:ext cx="3474720" cy="256032"/>
          </a:xfrm>
          <a:prstGeom prst="rect">
            <a:avLst/>
          </a:prstGeom>
          <a:noFill/>
        </p:spPr>
        <p:txBody>
          <a:bodyPr wrap="square">
            <a:spAutoFit/>
          </a:bodyPr>
          <a:lstStyle/>
          <a:p>
            <a:pPr algn="l">
              <a:defRPr sz="900" b="0" i="0">
                <a:solidFill>
                  <a:srgbClr val="B0BCCE"/>
                </a:solidFill>
                <a:latin typeface="Calibri"/>
              </a:defRPr>
            </a:pPr>
            <a:r>
              <a:t>→  Directional estimation (4/8-way)</a:t>
            </a:r>
          </a:p>
        </p:txBody>
      </p:sp>
      <p:sp>
        <p:nvSpPr>
          <p:cNvPr id="30" name="TextBox 29"/>
          <p:cNvSpPr txBox="1"/>
          <p:nvPr/>
        </p:nvSpPr>
        <p:spPr>
          <a:xfrm>
            <a:off x="6583680" y="5678424"/>
            <a:ext cx="1463040" cy="256032"/>
          </a:xfrm>
          <a:prstGeom prst="rect">
            <a:avLst/>
          </a:prstGeom>
          <a:noFill/>
        </p:spPr>
        <p:txBody>
          <a:bodyPr wrap="square">
            <a:spAutoFit/>
          </a:bodyPr>
          <a:lstStyle/>
          <a:p>
            <a:pPr algn="l">
              <a:defRPr sz="900" b="0" i="0">
                <a:solidFill>
                  <a:srgbClr val="FF4D6A"/>
                </a:solidFill>
                <a:latin typeface="Calibri"/>
              </a:defRPr>
            </a:pPr>
            <a:r>
              <a:t>⚠  Generalization failure</a:t>
            </a:r>
          </a:p>
        </p:txBody>
      </p:sp>
      <p:sp>
        <p:nvSpPr>
          <p:cNvPr id="31" name="TextBox 30"/>
          <p:cNvSpPr txBox="1"/>
          <p:nvPr/>
        </p:nvSpPr>
        <p:spPr>
          <a:xfrm>
            <a:off x="8229600" y="5678424"/>
            <a:ext cx="3474720" cy="256032"/>
          </a:xfrm>
          <a:prstGeom prst="rect">
            <a:avLst/>
          </a:prstGeom>
          <a:noFill/>
        </p:spPr>
        <p:txBody>
          <a:bodyPr wrap="square">
            <a:spAutoFit/>
          </a:bodyPr>
          <a:lstStyle/>
          <a:p>
            <a:pPr algn="l">
              <a:defRPr sz="900" b="0" i="0">
                <a:solidFill>
                  <a:srgbClr val="B0BCCE"/>
                </a:solidFill>
                <a:latin typeface="Calibri"/>
              </a:defRPr>
            </a:pPr>
            <a:r>
              <a:t>→  Controlled per-session adaptation</a:t>
            </a:r>
          </a:p>
        </p:txBody>
      </p:sp>
      <p:sp>
        <p:nvSpPr>
          <p:cNvPr id="32" name="TextBox 31"/>
          <p:cNvSpPr txBox="1"/>
          <p:nvPr/>
        </p:nvSpPr>
        <p:spPr>
          <a:xfrm>
            <a:off x="457200" y="5212080"/>
            <a:ext cx="2743200" cy="274320"/>
          </a:xfrm>
          <a:prstGeom prst="rect">
            <a:avLst/>
          </a:prstGeom>
          <a:noFill/>
        </p:spPr>
        <p:txBody>
          <a:bodyPr wrap="square">
            <a:spAutoFit/>
          </a:bodyPr>
          <a:lstStyle/>
          <a:p>
            <a:pPr algn="l">
              <a:defRPr sz="1200" b="1" i="0">
                <a:solidFill>
                  <a:srgbClr val="FFFFFF"/>
                </a:solidFill>
                <a:latin typeface="Calibri"/>
              </a:defRPr>
            </a:pPr>
            <a:r>
              <a:t>FUTURE DIRECTIONS</a:t>
            </a:r>
          </a:p>
        </p:txBody>
      </p:sp>
      <p:sp>
        <p:nvSpPr>
          <p:cNvPr id="33" name="TextBox 32"/>
          <p:cNvSpPr txBox="1"/>
          <p:nvPr/>
        </p:nvSpPr>
        <p:spPr>
          <a:xfrm>
            <a:off x="640080" y="5486400"/>
            <a:ext cx="3657600" cy="228600"/>
          </a:xfrm>
          <a:prstGeom prst="rect">
            <a:avLst/>
          </a:prstGeom>
          <a:noFill/>
        </p:spPr>
        <p:txBody>
          <a:bodyPr wrap="square">
            <a:spAutoFit/>
          </a:bodyPr>
          <a:lstStyle/>
          <a:p>
            <a:pPr algn="l">
              <a:defRPr sz="900" b="0" i="0">
                <a:solidFill>
                  <a:srgbClr val="6B7B93"/>
                </a:solidFill>
                <a:latin typeface="Calibri"/>
              </a:defRPr>
            </a:pPr>
            <a:r>
              <a:t>▹  RIS / programmable RF environments</a:t>
            </a:r>
          </a:p>
        </p:txBody>
      </p:sp>
      <p:sp>
        <p:nvSpPr>
          <p:cNvPr id="34" name="TextBox 33"/>
          <p:cNvSpPr txBox="1"/>
          <p:nvPr/>
        </p:nvSpPr>
        <p:spPr>
          <a:xfrm>
            <a:off x="640080" y="5742432"/>
            <a:ext cx="3657600" cy="228600"/>
          </a:xfrm>
          <a:prstGeom prst="rect">
            <a:avLst/>
          </a:prstGeom>
          <a:noFill/>
        </p:spPr>
        <p:txBody>
          <a:bodyPr wrap="square">
            <a:spAutoFit/>
          </a:bodyPr>
          <a:lstStyle/>
          <a:p>
            <a:pPr algn="l">
              <a:defRPr sz="900" b="0" i="0">
                <a:solidFill>
                  <a:srgbClr val="6B7B93"/>
                </a:solidFill>
                <a:latin typeface="Calibri"/>
              </a:defRPr>
            </a:pPr>
            <a:r>
              <a:t>▹  3D localization + gesture vocabulary</a:t>
            </a:r>
          </a:p>
        </p:txBody>
      </p:sp>
      <p:sp>
        <p:nvSpPr>
          <p:cNvPr id="35" name="TextBox 34"/>
          <p:cNvSpPr txBox="1"/>
          <p:nvPr/>
        </p:nvSpPr>
        <p:spPr>
          <a:xfrm>
            <a:off x="640080" y="5998464"/>
            <a:ext cx="3657600" cy="228600"/>
          </a:xfrm>
          <a:prstGeom prst="rect">
            <a:avLst/>
          </a:prstGeom>
          <a:noFill/>
        </p:spPr>
        <p:txBody>
          <a:bodyPr wrap="square">
            <a:spAutoFit/>
          </a:bodyPr>
          <a:lstStyle/>
          <a:p>
            <a:pPr algn="l">
              <a:defRPr sz="900" b="0" i="0">
                <a:solidFill>
                  <a:srgbClr val="6B7B93"/>
                </a:solidFill>
                <a:latin typeface="Calibri"/>
              </a:defRPr>
            </a:pPr>
            <a:r>
              <a:t>▹  Multi-user interaction</a:t>
            </a:r>
          </a:p>
        </p:txBody>
      </p:sp>
      <p:sp>
        <p:nvSpPr>
          <p:cNvPr id="36" name="TextBox 35"/>
          <p:cNvSpPr txBox="1"/>
          <p:nvPr/>
        </p:nvSpPr>
        <p:spPr>
          <a:xfrm>
            <a:off x="640080" y="6254496"/>
            <a:ext cx="3657600" cy="228600"/>
          </a:xfrm>
          <a:prstGeom prst="rect">
            <a:avLst/>
          </a:prstGeom>
          <a:noFill/>
        </p:spPr>
        <p:txBody>
          <a:bodyPr wrap="square">
            <a:spAutoFit/>
          </a:bodyPr>
          <a:lstStyle/>
          <a:p>
            <a:pPr algn="l">
              <a:defRPr sz="900" b="0" i="0">
                <a:solidFill>
                  <a:srgbClr val="6B7B93"/>
                </a:solidFill>
                <a:latin typeface="Calibri"/>
              </a:defRPr>
            </a:pPr>
            <a:r>
              <a:t>▹  IEEE 802.11bf integration</a:t>
            </a:r>
          </a:p>
        </p:txBody>
      </p:sp>
      <p:sp>
        <p:nvSpPr>
          <p:cNvPr id="37" name="Rectangle 36"/>
          <p:cNvSpPr/>
          <p:nvPr/>
        </p:nvSpPr>
        <p:spPr>
          <a:xfrm>
            <a:off x="0" y="6263640"/>
            <a:ext cx="12191695" cy="594360"/>
          </a:xfrm>
          <a:prstGeom prst="rect">
            <a:avLst/>
          </a:prstGeom>
          <a:solidFill>
            <a:srgbClr val="0508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263640"/>
            <a:ext cx="9144000" cy="457200"/>
          </a:xfrm>
          <a:prstGeom prst="rect">
            <a:avLst/>
          </a:prstGeom>
          <a:noFill/>
        </p:spPr>
        <p:txBody>
          <a:bodyPr wrap="square">
            <a:spAutoFit/>
          </a:bodyPr>
          <a:lstStyle/>
          <a:p>
            <a:pPr algn="l">
              <a:defRPr sz="3600" b="1" i="0">
                <a:solidFill>
                  <a:srgbClr val="00E5CC"/>
                </a:solidFill>
                <a:latin typeface="Calibri"/>
              </a:defRPr>
            </a:pPr>
            <a:r>
              <a:t>THE AIR BECOMES THE MOUSE.</a:t>
            </a:r>
          </a:p>
        </p:txBody>
      </p:sp>
      <p:sp>
        <p:nvSpPr>
          <p:cNvPr id="39" name="TextBox 38"/>
          <p:cNvSpPr txBox="1"/>
          <p:nvPr/>
        </p:nvSpPr>
        <p:spPr>
          <a:xfrm>
            <a:off x="6858000" y="6537960"/>
            <a:ext cx="5029200" cy="274320"/>
          </a:xfrm>
          <a:prstGeom prst="rect">
            <a:avLst/>
          </a:prstGeom>
          <a:noFill/>
        </p:spPr>
        <p:txBody>
          <a:bodyPr wrap="square">
            <a:spAutoFit/>
          </a:bodyPr>
          <a:lstStyle/>
          <a:p>
            <a:pPr algn="r">
              <a:defRPr sz="900" b="0" i="1">
                <a:solidFill>
                  <a:srgbClr val="6B7B93"/>
                </a:solidFill>
                <a:latin typeface="Calibri"/>
              </a:defRPr>
            </a:pPr>
            <a:r>
              <a:t>TARGET DEMONSTRATION — NOT A CLAIMED ACHIEVED RESULT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